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60" r:id="rId5"/>
    <p:sldId id="261" r:id="rId6"/>
    <p:sldId id="262" r:id="rId7"/>
    <p:sldId id="265" r:id="rId8"/>
    <p:sldId id="266" r:id="rId9"/>
    <p:sldId id="275" r:id="rId10"/>
    <p:sldId id="268" r:id="rId11"/>
    <p:sldId id="269" r:id="rId12"/>
    <p:sldId id="270" r:id="rId13"/>
    <p:sldId id="271" r:id="rId14"/>
    <p:sldId id="272" r:id="rId15"/>
    <p:sldId id="273" r:id="rId16"/>
    <p:sldId id="274" r:id="rId17"/>
  </p:sldIdLst>
  <p:sldSz cx="12161838" cy="6858000"/>
  <p:notesSz cx="6858000" cy="121618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77F197A-85DF-49A2-A588-67C79A0AAE76}">
          <p14:sldIdLst>
            <p14:sldId id="256"/>
            <p14:sldId id="257"/>
            <p14:sldId id="258"/>
            <p14:sldId id="260"/>
            <p14:sldId id="261"/>
            <p14:sldId id="262"/>
            <p14:sldId id="265"/>
            <p14:sldId id="266"/>
            <p14:sldId id="275"/>
            <p14:sldId id="268"/>
            <p14:sldId id="269"/>
            <p14:sldId id="270"/>
            <p14:sldId id="271"/>
            <p14:sldId id="272"/>
            <p14:sldId id="273"/>
          </p14:sldIdLst>
        </p14:section>
        <p14:section name="Untitled Section" id="{2E9508E1-4A32-4286-93BF-0FFFB65BC91F}">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38ED38-8DA5-4125-8478-4ACED0AE8FED}" v="1" dt="2026-08-03T03:59:49.2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gendra B" userId="25c5b589eb481cd6" providerId="LiveId" clId="{294345BB-ADE6-4B0B-A727-683FDEA38689}"/>
    <pc:docChg chg="addSld modSld modSection">
      <pc:chgData name="Yogendra B" userId="25c5b589eb481cd6" providerId="LiveId" clId="{294345BB-ADE6-4B0B-A727-683FDEA38689}" dt="2026-08-03T04:51:21.662" v="8" actId="1076"/>
      <pc:docMkLst>
        <pc:docMk/>
      </pc:docMkLst>
      <pc:sldChg chg="modSp">
        <pc:chgData name="Yogendra B" userId="25c5b589eb481cd6" providerId="LiveId" clId="{294345BB-ADE6-4B0B-A727-683FDEA38689}" dt="2026-08-03T03:59:49.275" v="0"/>
        <pc:sldMkLst>
          <pc:docMk/>
          <pc:sldMk cId="0" sldId="256"/>
        </pc:sldMkLst>
        <pc:spChg chg="mod">
          <ac:chgData name="Yogendra B" userId="25c5b589eb481cd6" providerId="LiveId" clId="{294345BB-ADE6-4B0B-A727-683FDEA38689}" dt="2026-08-03T03:59:49.275" v="0"/>
          <ac:spMkLst>
            <pc:docMk/>
            <pc:sldMk cId="0" sldId="256"/>
            <ac:spMk id="9" creationId="{00000000-0000-0000-0000-000000000000}"/>
          </ac:spMkLst>
        </pc:spChg>
      </pc:sldChg>
      <pc:sldChg chg="modSp mod">
        <pc:chgData name="Yogendra B" userId="25c5b589eb481cd6" providerId="LiveId" clId="{294345BB-ADE6-4B0B-A727-683FDEA38689}" dt="2026-08-03T04:10:08.747" v="1" actId="403"/>
        <pc:sldMkLst>
          <pc:docMk/>
          <pc:sldMk cId="0" sldId="257"/>
        </pc:sldMkLst>
        <pc:spChg chg="mod">
          <ac:chgData name="Yogendra B" userId="25c5b589eb481cd6" providerId="LiveId" clId="{294345BB-ADE6-4B0B-A727-683FDEA38689}" dt="2026-08-03T04:10:08.747" v="1" actId="403"/>
          <ac:spMkLst>
            <pc:docMk/>
            <pc:sldMk cId="0" sldId="257"/>
            <ac:spMk id="7" creationId="{00000000-0000-0000-0000-000000000000}"/>
          </ac:spMkLst>
        </pc:spChg>
      </pc:sldChg>
      <pc:sldChg chg="modSp mod">
        <pc:chgData name="Yogendra B" userId="25c5b589eb481cd6" providerId="LiveId" clId="{294345BB-ADE6-4B0B-A727-683FDEA38689}" dt="2026-08-03T04:51:21.662" v="8" actId="1076"/>
        <pc:sldMkLst>
          <pc:docMk/>
          <pc:sldMk cId="0" sldId="262"/>
        </pc:sldMkLst>
        <pc:spChg chg="mod">
          <ac:chgData name="Yogendra B" userId="25c5b589eb481cd6" providerId="LiveId" clId="{294345BB-ADE6-4B0B-A727-683FDEA38689}" dt="2026-08-03T04:51:13.246" v="7" actId="1076"/>
          <ac:spMkLst>
            <pc:docMk/>
            <pc:sldMk cId="0" sldId="262"/>
            <ac:spMk id="7" creationId="{00000000-0000-0000-0000-000000000000}"/>
          </ac:spMkLst>
        </pc:spChg>
        <pc:spChg chg="mod">
          <ac:chgData name="Yogendra B" userId="25c5b589eb481cd6" providerId="LiveId" clId="{294345BB-ADE6-4B0B-A727-683FDEA38689}" dt="2026-08-03T04:51:21.662" v="8" actId="1076"/>
          <ac:spMkLst>
            <pc:docMk/>
            <pc:sldMk cId="0" sldId="262"/>
            <ac:spMk id="9" creationId="{00000000-0000-0000-0000-000000000000}"/>
          </ac:spMkLst>
        </pc:spChg>
      </pc:sldChg>
      <pc:sldChg chg="modSp mod">
        <pc:chgData name="Yogendra B" userId="25c5b589eb481cd6" providerId="LiveId" clId="{294345BB-ADE6-4B0B-A727-683FDEA38689}" dt="2026-08-03T04:26:15.393" v="4" actId="2710"/>
        <pc:sldMkLst>
          <pc:docMk/>
          <pc:sldMk cId="963265773" sldId="274"/>
        </pc:sldMkLst>
        <pc:spChg chg="mod">
          <ac:chgData name="Yogendra B" userId="25c5b589eb481cd6" providerId="LiveId" clId="{294345BB-ADE6-4B0B-A727-683FDEA38689}" dt="2026-08-03T04:26:15.393" v="4" actId="2710"/>
          <ac:spMkLst>
            <pc:docMk/>
            <pc:sldMk cId="963265773" sldId="274"/>
            <ac:spMk id="7" creationId="{71FC1903-5484-4714-5F69-DB624E83E2F6}"/>
          </ac:spMkLst>
        </pc:spChg>
      </pc:sldChg>
      <pc:sldChg chg="addSp new mod">
        <pc:chgData name="Yogendra B" userId="25c5b589eb481cd6" providerId="LiveId" clId="{294345BB-ADE6-4B0B-A727-683FDEA38689}" dt="2026-08-03T04:46:20.520" v="6" actId="22"/>
        <pc:sldMkLst>
          <pc:docMk/>
          <pc:sldMk cId="1705385296" sldId="275"/>
        </pc:sldMkLst>
        <pc:picChg chg="add">
          <ac:chgData name="Yogendra B" userId="25c5b589eb481cd6" providerId="LiveId" clId="{294345BB-ADE6-4B0B-A727-683FDEA38689}" dt="2026-08-03T04:46:20.520" v="6" actId="22"/>
          <ac:picMkLst>
            <pc:docMk/>
            <pc:sldMk cId="1705385296" sldId="275"/>
            <ac:picMk id="3" creationId="{21B0F3DE-7C1C-7278-2076-420A43284E8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1850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6" name="Text 2"/>
          <p:cNvSpPr/>
          <p:nvPr/>
        </p:nvSpPr>
        <p:spPr>
          <a:xfrm>
            <a:off x="731520" y="2057400"/>
            <a:ext cx="10698480" cy="822960"/>
          </a:xfrm>
          <a:prstGeom prst="rect">
            <a:avLst/>
          </a:prstGeom>
          <a:noFill/>
          <a:ln/>
        </p:spPr>
        <p:txBody>
          <a:bodyPr wrap="square" lIns="0" tIns="0" rIns="0" bIns="0" rtlCol="0" anchor="ctr"/>
          <a:lstStyle/>
          <a:p>
            <a:pPr marL="0" indent="0" algn="ctr">
              <a:buNone/>
            </a:pPr>
            <a:r>
              <a:rPr lang="en-US" sz="3800" b="1" dirty="0">
                <a:solidFill>
                  <a:srgbClr val="1A1A1A"/>
                </a:solidFill>
                <a:latin typeface="Cambria" pitchFamily="34" charset="0"/>
                <a:ea typeface="Cambria" pitchFamily="34" charset="-122"/>
                <a:cs typeface="Cambria" pitchFamily="34" charset="-120"/>
              </a:rPr>
              <a:t>FoodShare Connect</a:t>
            </a:r>
            <a:endParaRPr lang="en-US" sz="3800" dirty="0"/>
          </a:p>
        </p:txBody>
      </p:sp>
      <p:sp>
        <p:nvSpPr>
          <p:cNvPr id="7" name="Text 3"/>
          <p:cNvSpPr/>
          <p:nvPr/>
        </p:nvSpPr>
        <p:spPr>
          <a:xfrm>
            <a:off x="731520" y="2743200"/>
            <a:ext cx="10698480" cy="457200"/>
          </a:xfrm>
          <a:prstGeom prst="rect">
            <a:avLst/>
          </a:prstGeom>
          <a:noFill/>
          <a:ln/>
        </p:spPr>
        <p:txBody>
          <a:bodyPr wrap="square" lIns="0" tIns="0" rIns="0" bIns="0" rtlCol="0" anchor="ctr"/>
          <a:lstStyle/>
          <a:p>
            <a:pPr marL="0" indent="0" algn="ctr">
              <a:buNone/>
            </a:pPr>
            <a:r>
              <a:rPr lang="en-US" sz="2000" dirty="0">
                <a:solidFill>
                  <a:srgbClr val="1A1A1A"/>
                </a:solidFill>
                <a:latin typeface="Cambria" pitchFamily="34" charset="0"/>
                <a:ea typeface="Cambria" pitchFamily="34" charset="-122"/>
                <a:cs typeface="Cambria" pitchFamily="34" charset="-120"/>
              </a:rPr>
              <a:t>Food Donation and Distribution Management System</a:t>
            </a:r>
            <a:endParaRPr lang="en-US" sz="2000" dirty="0"/>
          </a:p>
        </p:txBody>
      </p:sp>
      <p:sp>
        <p:nvSpPr>
          <p:cNvPr id="8" name="Text 4"/>
          <p:cNvSpPr/>
          <p:nvPr/>
        </p:nvSpPr>
        <p:spPr>
          <a:xfrm>
            <a:off x="731520" y="3246120"/>
            <a:ext cx="10698480" cy="365760"/>
          </a:xfrm>
          <a:prstGeom prst="rect">
            <a:avLst/>
          </a:prstGeom>
          <a:noFill/>
          <a:ln/>
        </p:spPr>
        <p:txBody>
          <a:bodyPr wrap="square" lIns="0" tIns="0" rIns="0" bIns="0" rtlCol="0" anchor="ctr"/>
          <a:lstStyle/>
          <a:p>
            <a:pPr marL="0" indent="0" algn="ctr">
              <a:buNone/>
            </a:pPr>
            <a:r>
              <a:rPr lang="en-US" sz="2000" b="1" dirty="0">
                <a:solidFill>
                  <a:srgbClr val="595959"/>
                </a:solidFill>
                <a:latin typeface="Times New Roman" panose="02020603050405020304" pitchFamily="18" charset="0"/>
                <a:ea typeface="Calibri" pitchFamily="34" charset="-122"/>
                <a:cs typeface="Times New Roman" panose="02020603050405020304" pitchFamily="18" charset="0"/>
              </a:rPr>
              <a:t>CSA4308-INTERNET PROGRAMMING</a:t>
            </a:r>
            <a:endParaRPr lang="en-US" sz="2000" dirty="0">
              <a:latin typeface="Times New Roman" panose="02020603050405020304" pitchFamily="18" charset="0"/>
              <a:cs typeface="Times New Roman" panose="02020603050405020304" pitchFamily="18" charset="0"/>
            </a:endParaRPr>
          </a:p>
        </p:txBody>
      </p:sp>
      <p:sp>
        <p:nvSpPr>
          <p:cNvPr id="9" name="Text 5"/>
          <p:cNvSpPr/>
          <p:nvPr/>
        </p:nvSpPr>
        <p:spPr>
          <a:xfrm>
            <a:off x="822960" y="4206239"/>
            <a:ext cx="5120640" cy="1909425"/>
          </a:xfrm>
          <a:prstGeom prst="rect">
            <a:avLst/>
          </a:prstGeom>
          <a:noFill/>
          <a:ln/>
        </p:spPr>
        <p:txBody>
          <a:bodyPr wrap="square" lIns="0" tIns="0" rIns="0" bIns="0" rtlCol="0" anchor="ctr"/>
          <a:lstStyle/>
          <a:p>
            <a:pPr>
              <a:lnSpc>
                <a:spcPct val="120000"/>
              </a:lnSpc>
            </a:pPr>
            <a:r>
              <a:rPr lang="en-US" sz="2000" b="1" dirty="0">
                <a:solidFill>
                  <a:schemeClr val="dk1"/>
                </a:solidFill>
                <a:latin typeface="Times New Roman"/>
                <a:ea typeface="Times New Roman"/>
                <a:cs typeface="Times New Roman"/>
                <a:sym typeface="Times New Roman"/>
              </a:rPr>
              <a:t>Faculty </a:t>
            </a:r>
            <a:r>
              <a:rPr lang="en-US" sz="2000" b="1" dirty="0">
                <a:solidFill>
                  <a:srgbClr val="1A1A1A"/>
                </a:solidFill>
                <a:latin typeface="Calibri" pitchFamily="34" charset="0"/>
                <a:ea typeface="Calibri" pitchFamily="34" charset="-122"/>
                <a:cs typeface="Calibri" pitchFamily="34" charset="-120"/>
              </a:rPr>
              <a:t>
</a:t>
            </a:r>
            <a:endParaRPr lang="en-US" sz="2000" dirty="0"/>
          </a:p>
          <a:p>
            <a:pPr lvl="0"/>
            <a:r>
              <a:rPr lang="en-US" sz="2000" dirty="0">
                <a:solidFill>
                  <a:srgbClr val="1A1A1A"/>
                </a:solidFill>
                <a:latin typeface="Calibri" pitchFamily="34" charset="0"/>
                <a:ea typeface="Calibri" pitchFamily="34" charset="-122"/>
                <a:cs typeface="Calibri" pitchFamily="34" charset="-120"/>
              </a:rPr>
              <a:t>Mr. </a:t>
            </a:r>
            <a:r>
              <a:rPr lang="en-IN" sz="2000" dirty="0">
                <a:latin typeface="Times New Roman" panose="02020603050405020304" pitchFamily="18" charset="0"/>
                <a:cs typeface="Times New Roman" panose="02020603050405020304" pitchFamily="18" charset="0"/>
              </a:rPr>
              <a:t>Rajagopal K</a:t>
            </a:r>
            <a:r>
              <a:rPr lang="en-US" sz="2000" dirty="0">
                <a:solidFill>
                  <a:srgbClr val="1A1A1A"/>
                </a:solidFill>
                <a:latin typeface="Calibri" pitchFamily="34" charset="0"/>
                <a:ea typeface="Calibri" pitchFamily="34" charset="-122"/>
                <a:cs typeface="Calibri" pitchFamily="34" charset="-120"/>
              </a:rPr>
              <a:t>
</a:t>
            </a:r>
            <a:r>
              <a:rPr lang="en-US" sz="2000" dirty="0">
                <a:solidFill>
                  <a:schemeClr val="dk1"/>
                </a:solidFill>
                <a:latin typeface="Times New Roman"/>
                <a:ea typeface="Times New Roman"/>
                <a:cs typeface="Times New Roman"/>
                <a:sym typeface="Times New Roman"/>
              </a:rPr>
              <a:t>Dept. of CSE</a:t>
            </a:r>
          </a:p>
          <a:p>
            <a:pPr lvl="0"/>
            <a:r>
              <a:rPr lang="en-US" sz="2000" dirty="0">
                <a:solidFill>
                  <a:schemeClr val="dk1"/>
                </a:solidFill>
                <a:latin typeface="Times New Roman"/>
                <a:ea typeface="Times New Roman"/>
                <a:cs typeface="Times New Roman"/>
                <a:sym typeface="Times New Roman"/>
              </a:rPr>
              <a:t>SIMATS Engineering</a:t>
            </a:r>
          </a:p>
          <a:p>
            <a:pPr marL="0" indent="0" algn="l">
              <a:lnSpc>
                <a:spcPct val="120000"/>
              </a:lnSpc>
              <a:buNone/>
            </a:pPr>
            <a:endParaRPr lang="en-US" sz="2000" dirty="0"/>
          </a:p>
        </p:txBody>
      </p:sp>
      <p:sp>
        <p:nvSpPr>
          <p:cNvPr id="10" name="Text 6"/>
          <p:cNvSpPr/>
          <p:nvPr/>
        </p:nvSpPr>
        <p:spPr>
          <a:xfrm>
            <a:off x="7698658" y="4385186"/>
            <a:ext cx="3731342" cy="1375533"/>
          </a:xfrm>
          <a:prstGeom prst="rect">
            <a:avLst/>
          </a:prstGeom>
          <a:noFill/>
          <a:ln/>
        </p:spPr>
        <p:txBody>
          <a:bodyPr wrap="square" lIns="0" tIns="0" rIns="0" bIns="0" rtlCol="0" anchor="ctr"/>
          <a:lstStyle/>
          <a:p>
            <a:pPr>
              <a:lnSpc>
                <a:spcPct val="120000"/>
              </a:lnSpc>
            </a:pPr>
            <a:r>
              <a:rPr lang="en-IN" b="1" dirty="0">
                <a:latin typeface="Times New Roman" panose="02020603050405020304" pitchFamily="18" charset="0"/>
                <a:cs typeface="Times New Roman" panose="02020603050405020304" pitchFamily="18" charset="0"/>
              </a:rPr>
              <a:t>TEAM</a:t>
            </a:r>
          </a:p>
          <a:p>
            <a:pPr>
              <a:lnSpc>
                <a:spcPct val="120000"/>
              </a:lnSpc>
            </a:pPr>
            <a:r>
              <a:rPr lang="en-IN" dirty="0">
                <a:latin typeface="Times New Roman" panose="02020603050405020304" pitchFamily="18" charset="0"/>
                <a:cs typeface="Times New Roman" panose="02020603050405020304" pitchFamily="18" charset="0"/>
              </a:rPr>
              <a:t>192365025  - K Sai Kumar</a:t>
            </a:r>
          </a:p>
          <a:p>
            <a:pPr>
              <a:lnSpc>
                <a:spcPct val="120000"/>
              </a:lnSpc>
            </a:pPr>
            <a:r>
              <a:rPr lang="en-IN" dirty="0">
                <a:latin typeface="Times New Roman" panose="02020603050405020304" pitchFamily="18" charset="0"/>
                <a:cs typeface="Times New Roman" panose="02020603050405020304" pitchFamily="18" charset="0"/>
              </a:rPr>
              <a:t>192365025 - Kongara Sai</a:t>
            </a:r>
          </a:p>
          <a:p>
            <a:pPr>
              <a:lnSpc>
                <a:spcPct val="120000"/>
              </a:lnSpc>
            </a:pPr>
            <a:r>
              <a:rPr lang="en-IN" dirty="0">
                <a:latin typeface="Times New Roman" panose="02020603050405020304" pitchFamily="18" charset="0"/>
                <a:cs typeface="Times New Roman" panose="02020603050405020304" pitchFamily="18" charset="0"/>
              </a:rPr>
              <a:t>192325046 -  B Yogendra</a:t>
            </a:r>
          </a:p>
          <a:p>
            <a:pPr>
              <a:lnSpc>
                <a:spcPct val="120000"/>
              </a:lnSpc>
            </a:pPr>
            <a:r>
              <a:rPr lang="en-IN" dirty="0">
                <a:latin typeface="Times New Roman" panose="02020603050405020304" pitchFamily="18" charset="0"/>
                <a:cs typeface="Times New Roman" panose="02020603050405020304" pitchFamily="18" charset="0"/>
              </a:rPr>
              <a:t>192372262 - G Venkatesh Reddy </a:t>
            </a:r>
          </a:p>
          <a:p>
            <a:pPr>
              <a:lnSpc>
                <a:spcPct val="120000"/>
              </a:lnSpc>
            </a:pPr>
            <a:r>
              <a:rPr lang="en-IN" dirty="0">
                <a:latin typeface="Times New Roman" panose="02020603050405020304" pitchFamily="18" charset="0"/>
                <a:cs typeface="Times New Roman" panose="02020603050405020304" pitchFamily="18" charset="0"/>
              </a:rPr>
              <a:t>192372056 -  H Sanjay Reddy</a:t>
            </a:r>
            <a:endParaRPr lang="en-US" dirty="0">
              <a:latin typeface="Times New Roman" panose="02020603050405020304" pitchFamily="18" charset="0"/>
              <a:cs typeface="Times New Roman" panose="02020603050405020304" pitchFamily="18" charset="0"/>
            </a:endParaRPr>
          </a:p>
        </p:txBody>
      </p:sp>
      <p:pic>
        <p:nvPicPr>
          <p:cNvPr id="3" name="Google Shape;85;p1" descr="SSE-Computer Science and Engineering">
            <a:extLst>
              <a:ext uri="{FF2B5EF4-FFF2-40B4-BE49-F238E27FC236}">
                <a16:creationId xmlns:a16="http://schemas.microsoft.com/office/drawing/2014/main" id="{EB9E82E3-2C69-493D-6B5B-234A51665BA4}"/>
              </a:ext>
            </a:extLst>
          </p:cNvPr>
          <p:cNvPicPr preferRelativeResize="0"/>
          <p:nvPr/>
        </p:nvPicPr>
        <p:blipFill rotWithShape="1">
          <a:blip r:embed="rId3">
            <a:alphaModFix/>
          </a:blip>
          <a:srcRect/>
          <a:stretch/>
        </p:blipFill>
        <p:spPr>
          <a:xfrm>
            <a:off x="619432" y="389267"/>
            <a:ext cx="10953135" cy="116023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6" name="Text 2"/>
          <p:cNvSpPr/>
          <p:nvPr/>
        </p:nvSpPr>
        <p:spPr>
          <a:xfrm>
            <a:off x="457200" y="868680"/>
            <a:ext cx="11247120" cy="548640"/>
          </a:xfrm>
          <a:prstGeom prst="rect">
            <a:avLst/>
          </a:prstGeom>
          <a:noFill/>
          <a:ln/>
        </p:spPr>
        <p:txBody>
          <a:bodyPr wrap="square" lIns="0" tIns="0" rIns="0" bIns="0" rtlCol="0" anchor="ctr"/>
          <a:lstStyle/>
          <a:p>
            <a:pPr marL="0" indent="0" algn="ctr">
              <a:buNone/>
            </a:pPr>
            <a:r>
              <a:rPr lang="en-US" sz="2800" b="1" dirty="0">
                <a:solidFill>
                  <a:srgbClr val="1A1A1A"/>
                </a:solidFill>
                <a:latin typeface="Times New Roman" panose="02020603050405020304" pitchFamily="18" charset="0"/>
                <a:ea typeface="Cambria" pitchFamily="34" charset="-122"/>
                <a:cs typeface="Times New Roman" panose="02020603050405020304" pitchFamily="18" charset="0"/>
              </a:rPr>
              <a:t>INTRODUCTION</a:t>
            </a:r>
            <a:endParaRPr lang="en-US" sz="2800" dirty="0">
              <a:latin typeface="Times New Roman" panose="02020603050405020304" pitchFamily="18" charset="0"/>
              <a:cs typeface="Times New Roman" panose="02020603050405020304" pitchFamily="18" charset="0"/>
            </a:endParaRPr>
          </a:p>
        </p:txBody>
      </p:sp>
      <p:sp>
        <p:nvSpPr>
          <p:cNvPr id="7" name="Text 3"/>
          <p:cNvSpPr/>
          <p:nvPr/>
        </p:nvSpPr>
        <p:spPr>
          <a:xfrm>
            <a:off x="548640" y="1600200"/>
            <a:ext cx="11064240" cy="1737360"/>
          </a:xfrm>
          <a:prstGeom prst="rect">
            <a:avLst/>
          </a:prstGeom>
          <a:noFill/>
          <a:ln/>
        </p:spPr>
        <p:txBody>
          <a:bodyPr wrap="square" lIns="0" tIns="0" rIns="0" bIns="0" rtlCol="0" anchor="ctr"/>
          <a:lstStyle/>
          <a:p>
            <a:pPr marL="0" indent="0" algn="l">
              <a:lnSpc>
                <a:spcPct val="125000"/>
              </a:lnSpc>
              <a:buNone/>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Every year, large quantities of edible food are wasted by households, restaurants, and event organizers, while a significant number of people continue to face food insecurity. Bridging this gap has traditionally relied on informal networks and manual coordination between donors and welfare organizations, which is slow and difficult to scale. FoodShare Connect is a web-based platform designed to digitally connect food donors with NGOs, shelters, and individuals in need, streamlining the entire donation-to-distribution process.</a:t>
            </a:r>
            <a:endParaRPr lang="en-US" sz="1600" dirty="0">
              <a:latin typeface="Times New Roman" panose="02020603050405020304" pitchFamily="18" charset="0"/>
              <a:cs typeface="Times New Roman" panose="02020603050405020304" pitchFamily="18" charset="0"/>
            </a:endParaRPr>
          </a:p>
        </p:txBody>
      </p:sp>
      <p:sp>
        <p:nvSpPr>
          <p:cNvPr id="8" name="Text 4"/>
          <p:cNvSpPr/>
          <p:nvPr/>
        </p:nvSpPr>
        <p:spPr>
          <a:xfrm>
            <a:off x="548640" y="3377381"/>
            <a:ext cx="11064240" cy="2560320"/>
          </a:xfrm>
          <a:prstGeom prst="rect">
            <a:avLst/>
          </a:prstGeom>
          <a:noFill/>
          <a:ln/>
        </p:spPr>
        <p:txBody>
          <a:bodyPr wrap="square" rtlCol="0" anchor="ctr"/>
          <a:lstStyle/>
          <a:p>
            <a:pPr marL="228600" indent="-228600">
              <a:spcAft>
                <a:spcPts val="1200"/>
              </a:spcAft>
              <a:buSzPct val="100000"/>
              <a:buChar char="■"/>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Grows out of the need for a centralized, technology-driven food redistribution system</a:t>
            </a:r>
            <a:endParaRPr lang="en-US" sz="1600" dirty="0">
              <a:latin typeface="Times New Roman" panose="02020603050405020304" pitchFamily="18" charset="0"/>
              <a:cs typeface="Times New Roman" panose="02020603050405020304" pitchFamily="18" charset="0"/>
            </a:endParaRPr>
          </a:p>
          <a:p>
            <a:pPr marL="228600" indent="-228600">
              <a:spcAft>
                <a:spcPts val="1200"/>
              </a:spcAft>
              <a:buSzPct val="100000"/>
              <a:buChar char="■"/>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Connects donors, receivers (NGOs/individuals), and delivery volunteers on one platform</a:t>
            </a:r>
            <a:endParaRPr lang="en-US" sz="1600" dirty="0">
              <a:latin typeface="Times New Roman" panose="02020603050405020304" pitchFamily="18" charset="0"/>
              <a:cs typeface="Times New Roman" panose="02020603050405020304" pitchFamily="18" charset="0"/>
            </a:endParaRPr>
          </a:p>
          <a:p>
            <a:pPr marL="228600" indent="-228600">
              <a:spcAft>
                <a:spcPts val="1200"/>
              </a:spcAft>
              <a:buSzPct val="100000"/>
              <a:buChar char="■"/>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Encourages timely donation of surplus food before it becomes unusable</a:t>
            </a:r>
            <a:endParaRPr lang="en-US" sz="1600" dirty="0">
              <a:latin typeface="Times New Roman" panose="02020603050405020304" pitchFamily="18" charset="0"/>
              <a:cs typeface="Times New Roman" panose="02020603050405020304" pitchFamily="18" charset="0"/>
            </a:endParaRPr>
          </a:p>
          <a:p>
            <a:pPr marL="228600" indent="-228600">
              <a:spcAft>
                <a:spcPts val="1200"/>
              </a:spcAft>
              <a:buSzPct val="100000"/>
              <a:buChar char="■"/>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Supports the broader goal of reducing food waste and hunger in local communities</a:t>
            </a:r>
            <a:endParaRPr lang="en-US" sz="1600" dirty="0">
              <a:latin typeface="Times New Roman" panose="02020603050405020304" pitchFamily="18" charset="0"/>
              <a:cs typeface="Times New Roman" panose="02020603050405020304" pitchFamily="18" charset="0"/>
            </a:endParaRPr>
          </a:p>
        </p:txBody>
      </p:sp>
      <p:pic>
        <p:nvPicPr>
          <p:cNvPr id="3" name="Google Shape;95;p2" descr="A logo with blue green and orange letters&#10;&#10;AI-generated content may be incorrect.">
            <a:extLst>
              <a:ext uri="{FF2B5EF4-FFF2-40B4-BE49-F238E27FC236}">
                <a16:creationId xmlns:a16="http://schemas.microsoft.com/office/drawing/2014/main" id="{DA84F9F9-FA5A-59D7-8938-E87BC53910DA}"/>
              </a:ext>
            </a:extLst>
          </p:cNvPr>
          <p:cNvPicPr preferRelativeResize="0"/>
          <p:nvPr/>
        </p:nvPicPr>
        <p:blipFill rotWithShape="1">
          <a:blip r:embed="rId3">
            <a:alphaModFix/>
          </a:blip>
          <a:srcRect/>
          <a:stretch/>
        </p:blipFill>
        <p:spPr>
          <a:xfrm>
            <a:off x="385642" y="223473"/>
            <a:ext cx="1158267" cy="1393652"/>
          </a:xfrm>
          <a:prstGeom prst="rect">
            <a:avLst/>
          </a:prstGeom>
          <a:noFill/>
          <a:ln>
            <a:noFill/>
          </a:ln>
        </p:spPr>
      </p:pic>
      <p:pic>
        <p:nvPicPr>
          <p:cNvPr id="5" name="Google Shape;94;p2" descr="A blue gear with a symbol and text&#10;&#10;AI-generated content may be incorrect.">
            <a:extLst>
              <a:ext uri="{FF2B5EF4-FFF2-40B4-BE49-F238E27FC236}">
                <a16:creationId xmlns:a16="http://schemas.microsoft.com/office/drawing/2014/main" id="{33039238-E52A-7FAA-9BC9-D54B77B2263D}"/>
              </a:ext>
            </a:extLst>
          </p:cNvPr>
          <p:cNvPicPr preferRelativeResize="0"/>
          <p:nvPr/>
        </p:nvPicPr>
        <p:blipFill rotWithShape="1">
          <a:blip r:embed="rId4">
            <a:alphaModFix/>
          </a:blip>
          <a:srcRect/>
          <a:stretch/>
        </p:blipFill>
        <p:spPr>
          <a:xfrm>
            <a:off x="9985505" y="333500"/>
            <a:ext cx="1414398" cy="13101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6" name="Text 2"/>
          <p:cNvSpPr/>
          <p:nvPr/>
        </p:nvSpPr>
        <p:spPr>
          <a:xfrm>
            <a:off x="457200" y="868680"/>
            <a:ext cx="11247120" cy="548640"/>
          </a:xfrm>
          <a:prstGeom prst="rect">
            <a:avLst/>
          </a:prstGeom>
          <a:noFill/>
          <a:ln/>
        </p:spPr>
        <p:txBody>
          <a:bodyPr wrap="square" lIns="0" tIns="0" rIns="0" bIns="0" rtlCol="0" anchor="ctr"/>
          <a:lstStyle/>
          <a:p>
            <a:pPr marL="0" indent="0" algn="ctr">
              <a:buNone/>
            </a:pPr>
            <a:r>
              <a:rPr lang="en-US" sz="2800" b="1" dirty="0">
                <a:solidFill>
                  <a:srgbClr val="1A1A1A"/>
                </a:solidFill>
                <a:latin typeface="Cambria" pitchFamily="34" charset="0"/>
                <a:ea typeface="Cambria" pitchFamily="34" charset="-122"/>
                <a:cs typeface="Cambria" pitchFamily="34" charset="-120"/>
              </a:rPr>
              <a:t>PROBLEM STATEMENT</a:t>
            </a:r>
            <a:endParaRPr lang="en-US" sz="2800" dirty="0"/>
          </a:p>
        </p:txBody>
      </p:sp>
      <p:sp>
        <p:nvSpPr>
          <p:cNvPr id="7" name="Text 3"/>
          <p:cNvSpPr/>
          <p:nvPr/>
        </p:nvSpPr>
        <p:spPr>
          <a:xfrm>
            <a:off x="548640" y="1691640"/>
            <a:ext cx="11064240" cy="4480560"/>
          </a:xfrm>
          <a:prstGeom prst="rect">
            <a:avLst/>
          </a:prstGeom>
          <a:noFill/>
          <a:ln/>
        </p:spPr>
        <p:txBody>
          <a:bodyPr wrap="square" rtlCol="0" anchor="ctr"/>
          <a:lstStyle/>
          <a:p>
            <a:pPr marL="228600" indent="-228600">
              <a:spcAft>
                <a:spcPts val="1400"/>
              </a:spcAft>
              <a:buSzPct val="100000"/>
              <a:buChar char="■"/>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No centralized platform exists for coordinating surplus food donations with people or organizations in need</a:t>
            </a:r>
            <a:endParaRPr lang="en-US" sz="1600" dirty="0">
              <a:latin typeface="Times New Roman" panose="02020603050405020304" pitchFamily="18" charset="0"/>
              <a:cs typeface="Times New Roman" panose="02020603050405020304" pitchFamily="18" charset="0"/>
            </a:endParaRPr>
          </a:p>
          <a:p>
            <a:pPr marL="228600" indent="-228600">
              <a:spcAft>
                <a:spcPts val="1400"/>
              </a:spcAft>
              <a:buSzPct val="100000"/>
              <a:buChar char="■"/>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Donors and NGOs rely on phone calls, word of mouth, or social media, leading to delays and missed donations</a:t>
            </a:r>
            <a:endParaRPr lang="en-US" sz="1600" dirty="0">
              <a:latin typeface="Times New Roman" panose="02020603050405020304" pitchFamily="18" charset="0"/>
              <a:cs typeface="Times New Roman" panose="02020603050405020304" pitchFamily="18" charset="0"/>
            </a:endParaRPr>
          </a:p>
          <a:p>
            <a:pPr marL="228600" indent="-228600">
              <a:spcAft>
                <a:spcPts val="1400"/>
              </a:spcAft>
              <a:buSzPct val="100000"/>
              <a:buChar char="■"/>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Lack of real-time visibility into what food is available, where, and how urgently it is needed</a:t>
            </a:r>
            <a:endParaRPr lang="en-US" sz="1600" dirty="0">
              <a:latin typeface="Times New Roman" panose="02020603050405020304" pitchFamily="18" charset="0"/>
              <a:cs typeface="Times New Roman" panose="02020603050405020304" pitchFamily="18" charset="0"/>
            </a:endParaRPr>
          </a:p>
          <a:p>
            <a:pPr marL="228600" indent="-228600">
              <a:spcAft>
                <a:spcPts val="1400"/>
              </a:spcAft>
              <a:buSzPct val="100000"/>
              <a:buChar char="■"/>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No structured process for verifying, approving, and tracking food requests</a:t>
            </a:r>
            <a:endParaRPr lang="en-US" sz="1600" dirty="0">
              <a:latin typeface="Times New Roman" panose="02020603050405020304" pitchFamily="18" charset="0"/>
              <a:cs typeface="Times New Roman" panose="02020603050405020304" pitchFamily="18" charset="0"/>
            </a:endParaRPr>
          </a:p>
          <a:p>
            <a:pPr marL="228600" indent="-228600">
              <a:spcAft>
                <a:spcPts val="1400"/>
              </a:spcAft>
              <a:buSzPct val="100000"/>
              <a:buChar char="■"/>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Delivery and pickup coordination is largely manual, causing spoilage and inefficiency</a:t>
            </a:r>
            <a:endParaRPr lang="en-US" sz="1600" dirty="0">
              <a:latin typeface="Times New Roman" panose="02020603050405020304" pitchFamily="18" charset="0"/>
              <a:cs typeface="Times New Roman" panose="02020603050405020304" pitchFamily="18" charset="0"/>
            </a:endParaRPr>
          </a:p>
          <a:p>
            <a:pPr marL="228600" indent="-228600">
              <a:spcAft>
                <a:spcPts val="1400"/>
              </a:spcAft>
              <a:buSzPct val="100000"/>
              <a:buChar char="■"/>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Absence of consolidated data/reports for monitoring impact and accountability</a:t>
            </a:r>
            <a:endParaRPr lang="en-US" sz="1600" dirty="0">
              <a:latin typeface="Times New Roman" panose="02020603050405020304" pitchFamily="18" charset="0"/>
              <a:cs typeface="Times New Roman" panose="02020603050405020304" pitchFamily="18" charset="0"/>
            </a:endParaRPr>
          </a:p>
        </p:txBody>
      </p:sp>
      <p:pic>
        <p:nvPicPr>
          <p:cNvPr id="9" name="Google Shape;95;p2" descr="A logo with blue green and orange letters&#10;&#10;AI-generated content may be incorrect.">
            <a:extLst>
              <a:ext uri="{FF2B5EF4-FFF2-40B4-BE49-F238E27FC236}">
                <a16:creationId xmlns:a16="http://schemas.microsoft.com/office/drawing/2014/main" id="{76D73D1F-72DE-F452-6D5B-AD009F206BF6}"/>
              </a:ext>
            </a:extLst>
          </p:cNvPr>
          <p:cNvPicPr preferRelativeResize="0"/>
          <p:nvPr/>
        </p:nvPicPr>
        <p:blipFill rotWithShape="1">
          <a:blip r:embed="rId3">
            <a:alphaModFix/>
          </a:blip>
          <a:srcRect/>
          <a:stretch/>
        </p:blipFill>
        <p:spPr>
          <a:xfrm>
            <a:off x="411480" y="160828"/>
            <a:ext cx="1158267" cy="1393652"/>
          </a:xfrm>
          <a:prstGeom prst="rect">
            <a:avLst/>
          </a:prstGeom>
          <a:noFill/>
          <a:ln>
            <a:noFill/>
          </a:ln>
        </p:spPr>
      </p:pic>
      <p:pic>
        <p:nvPicPr>
          <p:cNvPr id="11" name="Google Shape;94;p2" descr="A blue gear with a symbol and text&#10;&#10;AI-generated content may be incorrect.">
            <a:extLst>
              <a:ext uri="{FF2B5EF4-FFF2-40B4-BE49-F238E27FC236}">
                <a16:creationId xmlns:a16="http://schemas.microsoft.com/office/drawing/2014/main" id="{298F916C-4F71-50E7-9D4B-0F116402B90B}"/>
              </a:ext>
            </a:extLst>
          </p:cNvPr>
          <p:cNvPicPr preferRelativeResize="0"/>
          <p:nvPr/>
        </p:nvPicPr>
        <p:blipFill rotWithShape="1">
          <a:blip r:embed="rId4">
            <a:alphaModFix/>
          </a:blip>
          <a:srcRect/>
          <a:stretch/>
        </p:blipFill>
        <p:spPr>
          <a:xfrm>
            <a:off x="10335642" y="107175"/>
            <a:ext cx="1414398" cy="131014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6" name="Text 2"/>
          <p:cNvSpPr/>
          <p:nvPr/>
        </p:nvSpPr>
        <p:spPr>
          <a:xfrm>
            <a:off x="457200" y="868680"/>
            <a:ext cx="11247120" cy="548640"/>
          </a:xfrm>
          <a:prstGeom prst="rect">
            <a:avLst/>
          </a:prstGeom>
          <a:noFill/>
          <a:ln/>
        </p:spPr>
        <p:txBody>
          <a:bodyPr wrap="square" lIns="0" tIns="0" rIns="0" bIns="0" rtlCol="0" anchor="ctr"/>
          <a:lstStyle/>
          <a:p>
            <a:pPr marL="0" indent="0" algn="ctr">
              <a:buNone/>
            </a:pPr>
            <a:r>
              <a:rPr lang="en-US" sz="2800" b="1" dirty="0">
                <a:solidFill>
                  <a:srgbClr val="1A1A1A"/>
                </a:solidFill>
                <a:latin typeface="Cambria" pitchFamily="34" charset="0"/>
                <a:ea typeface="Cambria" pitchFamily="34" charset="-122"/>
                <a:cs typeface="Cambria" pitchFamily="34" charset="-120"/>
              </a:rPr>
              <a:t>OBJECTIVES</a:t>
            </a:r>
            <a:endParaRPr lang="en-US" sz="2800" dirty="0"/>
          </a:p>
        </p:txBody>
      </p:sp>
      <p:sp>
        <p:nvSpPr>
          <p:cNvPr id="7" name="Text 3"/>
          <p:cNvSpPr/>
          <p:nvPr/>
        </p:nvSpPr>
        <p:spPr>
          <a:xfrm>
            <a:off x="548640" y="1737360"/>
            <a:ext cx="11064240" cy="4480560"/>
          </a:xfrm>
          <a:prstGeom prst="rect">
            <a:avLst/>
          </a:prstGeom>
          <a:noFill/>
          <a:ln/>
        </p:spPr>
        <p:txBody>
          <a:bodyPr wrap="square" rtlCol="0" anchor="ctr"/>
          <a:lstStyle/>
          <a:p>
            <a:pPr marL="228600" indent="-228600">
              <a:spcAft>
                <a:spcPts val="2000"/>
              </a:spcAft>
              <a:buSzPct val="100000"/>
              <a:buChar char="■"/>
            </a:pPr>
            <a:r>
              <a:rPr lang="en-US" sz="1700" dirty="0">
                <a:solidFill>
                  <a:srgbClr val="1A1A1A"/>
                </a:solidFill>
                <a:latin typeface="Times New Roman" panose="02020603050405020304" pitchFamily="18" charset="0"/>
                <a:ea typeface="Calibri" pitchFamily="34" charset="-122"/>
                <a:cs typeface="Times New Roman" panose="02020603050405020304" pitchFamily="18" charset="0"/>
              </a:rPr>
              <a:t>Design a unified web platform connecting donors, receivers, and delivery volunteers</a:t>
            </a:r>
            <a:endParaRPr lang="en-US" sz="1700" dirty="0">
              <a:latin typeface="Times New Roman" panose="02020603050405020304" pitchFamily="18" charset="0"/>
              <a:cs typeface="Times New Roman" panose="02020603050405020304" pitchFamily="18" charset="0"/>
            </a:endParaRPr>
          </a:p>
          <a:p>
            <a:pPr marL="228600" indent="-228600">
              <a:spcAft>
                <a:spcPts val="2000"/>
              </a:spcAft>
              <a:buSzPct val="100000"/>
              <a:buChar char="■"/>
            </a:pPr>
            <a:r>
              <a:rPr lang="en-US" sz="1700" dirty="0">
                <a:solidFill>
                  <a:srgbClr val="1A1A1A"/>
                </a:solidFill>
                <a:latin typeface="Times New Roman" panose="02020603050405020304" pitchFamily="18" charset="0"/>
                <a:ea typeface="Calibri" pitchFamily="34" charset="-122"/>
                <a:cs typeface="Times New Roman" panose="02020603050405020304" pitchFamily="18" charset="0"/>
              </a:rPr>
              <a:t>Enable donors to list surplus food with details such as quantity, type, and pickup window</a:t>
            </a:r>
            <a:endParaRPr lang="en-US" sz="1700" dirty="0">
              <a:latin typeface="Times New Roman" panose="02020603050405020304" pitchFamily="18" charset="0"/>
              <a:cs typeface="Times New Roman" panose="02020603050405020304" pitchFamily="18" charset="0"/>
            </a:endParaRPr>
          </a:p>
          <a:p>
            <a:pPr marL="228600" indent="-228600">
              <a:spcAft>
                <a:spcPts val="2000"/>
              </a:spcAft>
              <a:buSzPct val="100000"/>
              <a:buChar char="■"/>
            </a:pPr>
            <a:r>
              <a:rPr lang="en-US" sz="1700" dirty="0">
                <a:solidFill>
                  <a:srgbClr val="1A1A1A"/>
                </a:solidFill>
                <a:latin typeface="Times New Roman" panose="02020603050405020304" pitchFamily="18" charset="0"/>
                <a:ea typeface="Calibri" pitchFamily="34" charset="-122"/>
                <a:cs typeface="Times New Roman" panose="02020603050405020304" pitchFamily="18" charset="0"/>
              </a:rPr>
              <a:t>Provide a request and approval workflow so receivers can claim available donations</a:t>
            </a:r>
            <a:endParaRPr lang="en-US" sz="1700" dirty="0">
              <a:latin typeface="Times New Roman" panose="02020603050405020304" pitchFamily="18" charset="0"/>
              <a:cs typeface="Times New Roman" panose="02020603050405020304" pitchFamily="18" charset="0"/>
            </a:endParaRPr>
          </a:p>
          <a:p>
            <a:pPr marL="228600" indent="-228600">
              <a:spcAft>
                <a:spcPts val="2000"/>
              </a:spcAft>
              <a:buSzPct val="100000"/>
              <a:buChar char="■"/>
            </a:pPr>
            <a:r>
              <a:rPr lang="en-US" sz="1700" dirty="0">
                <a:solidFill>
                  <a:srgbClr val="1A1A1A"/>
                </a:solidFill>
                <a:latin typeface="Times New Roman" panose="02020603050405020304" pitchFamily="18" charset="0"/>
                <a:ea typeface="Calibri" pitchFamily="34" charset="-122"/>
                <a:cs typeface="Times New Roman" panose="02020603050405020304" pitchFamily="18" charset="0"/>
              </a:rPr>
              <a:t>Coordinate delivery logistics between donation and receiving points</a:t>
            </a:r>
            <a:endParaRPr lang="en-US" sz="1700" dirty="0">
              <a:latin typeface="Times New Roman" panose="02020603050405020304" pitchFamily="18" charset="0"/>
              <a:cs typeface="Times New Roman" panose="02020603050405020304" pitchFamily="18" charset="0"/>
            </a:endParaRPr>
          </a:p>
          <a:p>
            <a:pPr marL="228600" indent="-228600">
              <a:spcAft>
                <a:spcPts val="2000"/>
              </a:spcAft>
              <a:buSzPct val="100000"/>
              <a:buChar char="■"/>
            </a:pPr>
            <a:r>
              <a:rPr lang="en-US" sz="1700" dirty="0">
                <a:solidFill>
                  <a:srgbClr val="1A1A1A"/>
                </a:solidFill>
                <a:latin typeface="Times New Roman" panose="02020603050405020304" pitchFamily="18" charset="0"/>
                <a:ea typeface="Calibri" pitchFamily="34" charset="-122"/>
                <a:cs typeface="Times New Roman" panose="02020603050405020304" pitchFamily="18" charset="0"/>
              </a:rPr>
              <a:t>Generate reports and analytics for administrators to monitor activity and impact</a:t>
            </a:r>
            <a:endParaRPr lang="en-US" sz="1700" dirty="0">
              <a:latin typeface="Times New Roman" panose="02020603050405020304" pitchFamily="18" charset="0"/>
              <a:cs typeface="Times New Roman" panose="02020603050405020304" pitchFamily="18" charset="0"/>
            </a:endParaRPr>
          </a:p>
        </p:txBody>
      </p:sp>
      <p:pic>
        <p:nvPicPr>
          <p:cNvPr id="9" name="Google Shape;95;p2" descr="A logo with blue green and orange letters&#10;&#10;AI-generated content may be incorrect.">
            <a:extLst>
              <a:ext uri="{FF2B5EF4-FFF2-40B4-BE49-F238E27FC236}">
                <a16:creationId xmlns:a16="http://schemas.microsoft.com/office/drawing/2014/main" id="{99EF8C0E-82E8-0FFE-55D7-31ABDD3102A9}"/>
              </a:ext>
            </a:extLst>
          </p:cNvPr>
          <p:cNvPicPr preferRelativeResize="0"/>
          <p:nvPr/>
        </p:nvPicPr>
        <p:blipFill rotWithShape="1">
          <a:blip r:embed="rId3">
            <a:alphaModFix/>
          </a:blip>
          <a:srcRect/>
          <a:stretch/>
        </p:blipFill>
        <p:spPr>
          <a:xfrm>
            <a:off x="457200" y="292608"/>
            <a:ext cx="1158267" cy="1393652"/>
          </a:xfrm>
          <a:prstGeom prst="rect">
            <a:avLst/>
          </a:prstGeom>
          <a:noFill/>
          <a:ln>
            <a:noFill/>
          </a:ln>
        </p:spPr>
      </p:pic>
      <p:pic>
        <p:nvPicPr>
          <p:cNvPr id="11" name="Google Shape;94;p2" descr="A blue gear with a symbol and text&#10;&#10;AI-generated content may be incorrect.">
            <a:extLst>
              <a:ext uri="{FF2B5EF4-FFF2-40B4-BE49-F238E27FC236}">
                <a16:creationId xmlns:a16="http://schemas.microsoft.com/office/drawing/2014/main" id="{79DF7E82-B75B-B095-9D88-454B6DBE56F2}"/>
              </a:ext>
            </a:extLst>
          </p:cNvPr>
          <p:cNvPicPr preferRelativeResize="0"/>
          <p:nvPr/>
        </p:nvPicPr>
        <p:blipFill rotWithShape="1">
          <a:blip r:embed="rId4">
            <a:alphaModFix/>
          </a:blip>
          <a:srcRect/>
          <a:stretch/>
        </p:blipFill>
        <p:spPr>
          <a:xfrm>
            <a:off x="10289922" y="213607"/>
            <a:ext cx="1414398" cy="131014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6" name="Text 2"/>
          <p:cNvSpPr/>
          <p:nvPr/>
        </p:nvSpPr>
        <p:spPr>
          <a:xfrm>
            <a:off x="457200" y="868680"/>
            <a:ext cx="11247120" cy="548640"/>
          </a:xfrm>
          <a:prstGeom prst="rect">
            <a:avLst/>
          </a:prstGeom>
          <a:noFill/>
          <a:ln/>
        </p:spPr>
        <p:txBody>
          <a:bodyPr wrap="square" lIns="0" tIns="0" rIns="0" bIns="0" rtlCol="0" anchor="ctr"/>
          <a:lstStyle/>
          <a:p>
            <a:pPr marL="0" indent="0" algn="ctr">
              <a:buNone/>
            </a:pPr>
            <a:r>
              <a:rPr lang="en-US" sz="2800" b="1" dirty="0">
                <a:solidFill>
                  <a:srgbClr val="1A1A1A"/>
                </a:solidFill>
                <a:latin typeface="Cambria" pitchFamily="34" charset="0"/>
                <a:ea typeface="Cambria" pitchFamily="34" charset="-122"/>
                <a:cs typeface="Cambria" pitchFamily="34" charset="-120"/>
              </a:rPr>
              <a:t>LITERATURE SURVEY</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47120" cy="4535424"/>
        </p:xfrm>
        <a:graphic>
          <a:graphicData uri="http://schemas.openxmlformats.org/drawingml/2006/table">
            <a:tbl>
              <a:tblPr/>
              <a:tblGrid>
                <a:gridCol w="8229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566928">
                <a:tc>
                  <a:txBody>
                    <a:bodyPr/>
                    <a:lstStyle/>
                    <a:p>
                      <a:pPr marL="0" indent="0" algn="ctr">
                        <a:buNone/>
                      </a:pPr>
                      <a:r>
                        <a:rPr lang="en-US" sz="1100" b="1" dirty="0">
                          <a:solidFill>
                            <a:srgbClr val="1A1A1A"/>
                          </a:solidFill>
                          <a:latin typeface="Calibri" pitchFamily="34" charset="0"/>
                          <a:ea typeface="Calibri" pitchFamily="34" charset="-122"/>
                          <a:cs typeface="Calibri" pitchFamily="34" charset="-120"/>
                        </a:rPr>
                        <a:t>Year</a:t>
                      </a:r>
                      <a:endParaRPr lang="en-US" sz="11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100" b="1" dirty="0">
                          <a:solidFill>
                            <a:srgbClr val="1A1A1A"/>
                          </a:solidFill>
                          <a:latin typeface="Calibri" pitchFamily="34" charset="0"/>
                          <a:ea typeface="Calibri" pitchFamily="34" charset="-122"/>
                          <a:cs typeface="Calibri" pitchFamily="34" charset="-120"/>
                        </a:rPr>
                        <a:t>Title / Focus Area</a:t>
                      </a:r>
                      <a:endParaRPr lang="en-US" sz="11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100" b="1" dirty="0">
                          <a:solidFill>
                            <a:srgbClr val="1A1A1A"/>
                          </a:solidFill>
                          <a:latin typeface="Calibri" pitchFamily="34" charset="0"/>
                          <a:ea typeface="Calibri" pitchFamily="34" charset="-122"/>
                          <a:cs typeface="Calibri" pitchFamily="34" charset="-120"/>
                        </a:rPr>
                        <a:t>Objective</a:t>
                      </a:r>
                      <a:endParaRPr lang="en-US" sz="11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100" b="1" dirty="0">
                          <a:solidFill>
                            <a:srgbClr val="1A1A1A"/>
                          </a:solidFill>
                          <a:latin typeface="Calibri" pitchFamily="34" charset="0"/>
                          <a:ea typeface="Calibri" pitchFamily="34" charset="-122"/>
                          <a:cs typeface="Calibri" pitchFamily="34" charset="-120"/>
                        </a:rPr>
                        <a:t>Limitation</a:t>
                      </a:r>
                      <a:endParaRPr lang="en-US" sz="11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566928">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2020</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Web-Based Food Donation Management System</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Provide an online portal for restaurants to list surplus food for NGOs.</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Limited to restaurant donors; no delivery coordination module.</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2021</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IoT-Enabled Smart Food Rescue Platform</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Use sensors to track food freshness and alert nearby NGOs.</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High hardware cost; not scalable for individual donors.</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2022</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Mobile Application for Surplus Food Redistribution</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Connect individual donors with shelters via a mobile app.</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No admin verification layer; risk of misuse.</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2023</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Cloud-Based Food Bank Management System</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Centralize inventory and requests for multiple food banks.</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Focused on storage logistics; lacks real-time request approval.</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2023</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GIS-Based Food Donation Routing System</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Optimize delivery routes between donors and receivers.</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Requires accurate live location data; limited in low-connectivity areas.</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2024</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AI-Driven Demand Prediction for Food Banks</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Predict food demand patterns to reduce shortages.</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Needs large historical datasets; complex to deploy for small NGOs.</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r h="566928">
                <a:tc>
                  <a:txBody>
                    <a:bodyPr/>
                    <a:lstStyle/>
                    <a:p>
                      <a:pPr marL="0" indent="0" algn="ctr">
                        <a:buNone/>
                      </a:pPr>
                      <a:r>
                        <a:rPr lang="en-US" sz="1050" dirty="0">
                          <a:solidFill>
                            <a:srgbClr val="1A1A1A"/>
                          </a:solidFill>
                          <a:latin typeface="Calibri" pitchFamily="34" charset="0"/>
                          <a:ea typeface="Calibri" pitchFamily="34" charset="-122"/>
                          <a:cs typeface="Calibri" pitchFamily="34" charset="-120"/>
                        </a:rPr>
                        <a:t>2024</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Blockchain-Based Transparent Donation Tracking</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Ensure transparency and traceability of donated food.</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l">
                        <a:buNone/>
                      </a:pPr>
                      <a:r>
                        <a:rPr lang="en-US" sz="1050" dirty="0">
                          <a:solidFill>
                            <a:srgbClr val="1A1A1A"/>
                          </a:solidFill>
                          <a:latin typeface="Calibri" pitchFamily="34" charset="0"/>
                          <a:ea typeface="Calibri" pitchFamily="34" charset="-122"/>
                          <a:cs typeface="Calibri" pitchFamily="34" charset="-120"/>
                        </a:rPr>
                        <a:t>High implementation complexity; limited donor familiarity with blockchain.</a:t>
                      </a:r>
                      <a:endParaRPr lang="en-US" sz="10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3" name="Google Shape;95;p2" descr="A logo with blue green and orange letters&#10;&#10;AI-generated content may be incorrect.">
            <a:extLst>
              <a:ext uri="{FF2B5EF4-FFF2-40B4-BE49-F238E27FC236}">
                <a16:creationId xmlns:a16="http://schemas.microsoft.com/office/drawing/2014/main" id="{2B4D25CB-E956-E1ED-16E4-8BDB83A6906D}"/>
              </a:ext>
            </a:extLst>
          </p:cNvPr>
          <p:cNvPicPr preferRelativeResize="0"/>
          <p:nvPr/>
        </p:nvPicPr>
        <p:blipFill rotWithShape="1">
          <a:blip r:embed="rId3">
            <a:alphaModFix/>
          </a:blip>
          <a:srcRect/>
          <a:stretch/>
        </p:blipFill>
        <p:spPr>
          <a:xfrm>
            <a:off x="457200" y="171854"/>
            <a:ext cx="1158267" cy="1393652"/>
          </a:xfrm>
          <a:prstGeom prst="rect">
            <a:avLst/>
          </a:prstGeom>
          <a:noFill/>
          <a:ln>
            <a:noFill/>
          </a:ln>
        </p:spPr>
      </p:pic>
      <p:pic>
        <p:nvPicPr>
          <p:cNvPr id="5" name="Google Shape;94;p2" descr="A blue gear with a symbol and text&#10;&#10;AI-generated content may be incorrect.">
            <a:extLst>
              <a:ext uri="{FF2B5EF4-FFF2-40B4-BE49-F238E27FC236}">
                <a16:creationId xmlns:a16="http://schemas.microsoft.com/office/drawing/2014/main" id="{08DB71E0-1560-FAF8-26B8-6E07FBBE0F98}"/>
              </a:ext>
            </a:extLst>
          </p:cNvPr>
          <p:cNvPicPr preferRelativeResize="0"/>
          <p:nvPr/>
        </p:nvPicPr>
        <p:blipFill rotWithShape="1">
          <a:blip r:embed="rId4">
            <a:alphaModFix/>
          </a:blip>
          <a:srcRect/>
          <a:stretch/>
        </p:blipFill>
        <p:spPr>
          <a:xfrm>
            <a:off x="10289922" y="198615"/>
            <a:ext cx="1414398" cy="131014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6" name="Text 2"/>
          <p:cNvSpPr/>
          <p:nvPr/>
        </p:nvSpPr>
        <p:spPr>
          <a:xfrm>
            <a:off x="457200" y="868680"/>
            <a:ext cx="11247120" cy="548640"/>
          </a:xfrm>
          <a:prstGeom prst="rect">
            <a:avLst/>
          </a:prstGeom>
          <a:noFill/>
          <a:ln/>
        </p:spPr>
        <p:txBody>
          <a:bodyPr wrap="square" lIns="0" tIns="0" rIns="0" bIns="0" rtlCol="0" anchor="ctr"/>
          <a:lstStyle/>
          <a:p>
            <a:pPr marL="0" indent="0" algn="ctr">
              <a:buNone/>
            </a:pPr>
            <a:r>
              <a:rPr lang="en-US" sz="2800" b="1" dirty="0">
                <a:solidFill>
                  <a:srgbClr val="1A1A1A"/>
                </a:solidFill>
                <a:latin typeface="Cambria" pitchFamily="34" charset="0"/>
                <a:ea typeface="Cambria" pitchFamily="34" charset="-122"/>
                <a:cs typeface="Cambria" pitchFamily="34" charset="-120"/>
              </a:rPr>
              <a:t>EXISTING SYSTEM AND ITS LIMITATIONS</a:t>
            </a:r>
            <a:endParaRPr lang="en-US" sz="2800" dirty="0"/>
          </a:p>
        </p:txBody>
      </p:sp>
      <p:sp>
        <p:nvSpPr>
          <p:cNvPr id="7" name="Text 3"/>
          <p:cNvSpPr/>
          <p:nvPr/>
        </p:nvSpPr>
        <p:spPr>
          <a:xfrm>
            <a:off x="685800" y="2079452"/>
            <a:ext cx="5394960" cy="365760"/>
          </a:xfrm>
          <a:prstGeom prst="rect">
            <a:avLst/>
          </a:prstGeom>
          <a:noFill/>
          <a:ln/>
        </p:spPr>
        <p:txBody>
          <a:bodyPr wrap="square" lIns="0" tIns="0" rIns="0" bIns="0" rtlCol="0" anchor="ctr"/>
          <a:lstStyle/>
          <a:p>
            <a:pPr marL="0" indent="0">
              <a:buNone/>
            </a:pPr>
            <a:r>
              <a:rPr lang="en-US" sz="1600" b="1" dirty="0">
                <a:solidFill>
                  <a:srgbClr val="1A1A1A"/>
                </a:solidFill>
                <a:latin typeface="Cambria" pitchFamily="34" charset="0"/>
                <a:ea typeface="Cambria" pitchFamily="34" charset="-122"/>
                <a:cs typeface="Cambria" pitchFamily="34" charset="-120"/>
              </a:rPr>
              <a:t>Existing Practice</a:t>
            </a:r>
            <a:endParaRPr lang="en-US" sz="1600" dirty="0"/>
          </a:p>
        </p:txBody>
      </p:sp>
      <p:sp>
        <p:nvSpPr>
          <p:cNvPr id="8" name="Text 4"/>
          <p:cNvSpPr/>
          <p:nvPr/>
        </p:nvSpPr>
        <p:spPr>
          <a:xfrm>
            <a:off x="548640" y="1965960"/>
            <a:ext cx="5394960" cy="4023360"/>
          </a:xfrm>
          <a:prstGeom prst="rect">
            <a:avLst/>
          </a:prstGeom>
          <a:noFill/>
          <a:ln/>
        </p:spPr>
        <p:txBody>
          <a:bodyPr wrap="square" rtlCol="0" anchor="ctr"/>
          <a:lstStyle/>
          <a:p>
            <a:pPr marL="228600" indent="-228600" algn="just">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Donors contact NGOs directly via phone or social media</a:t>
            </a:r>
            <a:endParaRPr lang="en-US" sz="1400" dirty="0"/>
          </a:p>
          <a:p>
            <a:pPr marL="228600" indent="-228600" algn="just">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NGOs manually track incoming donations on spreadsheets or registers</a:t>
            </a:r>
            <a:endParaRPr lang="en-US" sz="1400" dirty="0"/>
          </a:p>
          <a:p>
            <a:pPr marL="228600" indent="-228600" algn="just">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Pickup and delivery are arranged informally, often by volunteers on an ad-hoc basis</a:t>
            </a:r>
            <a:endParaRPr lang="en-US" sz="1400" dirty="0"/>
          </a:p>
          <a:p>
            <a:pPr marL="228600" indent="-228600" algn="just">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No shared visibility between multiple donors, NGOs, and volunteers</a:t>
            </a:r>
            <a:endParaRPr lang="en-US" sz="1400" dirty="0"/>
          </a:p>
        </p:txBody>
      </p:sp>
      <p:sp>
        <p:nvSpPr>
          <p:cNvPr id="9" name="Text 5"/>
          <p:cNvSpPr/>
          <p:nvPr/>
        </p:nvSpPr>
        <p:spPr>
          <a:xfrm>
            <a:off x="6492240" y="2079452"/>
            <a:ext cx="5394960" cy="365760"/>
          </a:xfrm>
          <a:prstGeom prst="rect">
            <a:avLst/>
          </a:prstGeom>
          <a:noFill/>
          <a:ln/>
        </p:spPr>
        <p:txBody>
          <a:bodyPr wrap="square" lIns="0" tIns="0" rIns="0" bIns="0" rtlCol="0" anchor="ctr"/>
          <a:lstStyle/>
          <a:p>
            <a:pPr marL="0" indent="0">
              <a:buNone/>
            </a:pPr>
            <a:r>
              <a:rPr lang="en-US" sz="1600" b="1" dirty="0">
                <a:solidFill>
                  <a:srgbClr val="1A1A1A"/>
                </a:solidFill>
                <a:latin typeface="Cambria" pitchFamily="34" charset="0"/>
                <a:ea typeface="Cambria" pitchFamily="34" charset="-122"/>
                <a:cs typeface="Cambria" pitchFamily="34" charset="-120"/>
              </a:rPr>
              <a:t>Key Limitations</a:t>
            </a:r>
            <a:endParaRPr lang="en-US" sz="1600" dirty="0"/>
          </a:p>
        </p:txBody>
      </p:sp>
      <p:sp>
        <p:nvSpPr>
          <p:cNvPr id="10" name="Text 6"/>
          <p:cNvSpPr/>
          <p:nvPr/>
        </p:nvSpPr>
        <p:spPr>
          <a:xfrm>
            <a:off x="6217920" y="1965960"/>
            <a:ext cx="5394960" cy="4023360"/>
          </a:xfrm>
          <a:prstGeom prst="rect">
            <a:avLst/>
          </a:prstGeom>
          <a:noFill/>
          <a:ln/>
        </p:spPr>
        <p:txBody>
          <a:bodyPr wrap="square" rtlCol="0" anchor="ctr"/>
          <a:lstStyle/>
          <a:p>
            <a:pPr marL="228600" indent="-228600" algn="just">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Slow response time increases the chance of food spoiling before pickup</a:t>
            </a:r>
            <a:endParaRPr lang="en-US" sz="1400" dirty="0"/>
          </a:p>
          <a:p>
            <a:pPr marL="228600" indent="-228600" algn="just">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No centralized record of donations, requests, or delivery status</a:t>
            </a:r>
            <a:endParaRPr lang="en-US" sz="1400" dirty="0"/>
          </a:p>
          <a:p>
            <a:pPr marL="228600" indent="-228600" algn="just">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Difficult to verify requester authenticity or prevent duplicate claims</a:t>
            </a:r>
            <a:endParaRPr lang="en-US" sz="1400" dirty="0"/>
          </a:p>
          <a:p>
            <a:pPr marL="228600" indent="-228600" algn="just">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No analytics to understand donation trends or unmet demand</a:t>
            </a:r>
            <a:endParaRPr lang="en-US" sz="1400" dirty="0"/>
          </a:p>
          <a:p>
            <a:pPr marL="228600" indent="-228600" algn="just">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Limited scalability beyond a small, local network of contacts</a:t>
            </a:r>
            <a:endParaRPr lang="en-US" sz="1400" dirty="0"/>
          </a:p>
        </p:txBody>
      </p:sp>
      <p:pic>
        <p:nvPicPr>
          <p:cNvPr id="3" name="Google Shape;95;p2" descr="A logo with blue green and orange letters&#10;&#10;AI-generated content may be incorrect.">
            <a:extLst>
              <a:ext uri="{FF2B5EF4-FFF2-40B4-BE49-F238E27FC236}">
                <a16:creationId xmlns:a16="http://schemas.microsoft.com/office/drawing/2014/main" id="{86B32E55-692C-9B27-942E-7A41A5169405}"/>
              </a:ext>
            </a:extLst>
          </p:cNvPr>
          <p:cNvPicPr preferRelativeResize="0"/>
          <p:nvPr/>
        </p:nvPicPr>
        <p:blipFill rotWithShape="1">
          <a:blip r:embed="rId3">
            <a:alphaModFix/>
          </a:blip>
          <a:srcRect/>
          <a:stretch/>
        </p:blipFill>
        <p:spPr>
          <a:xfrm>
            <a:off x="457200" y="369811"/>
            <a:ext cx="1158267" cy="1393652"/>
          </a:xfrm>
          <a:prstGeom prst="rect">
            <a:avLst/>
          </a:prstGeom>
          <a:noFill/>
          <a:ln>
            <a:noFill/>
          </a:ln>
        </p:spPr>
      </p:pic>
      <p:pic>
        <p:nvPicPr>
          <p:cNvPr id="5" name="Google Shape;94;p2" descr="A blue gear with a symbol and text&#10;&#10;AI-generated content may be incorrect.">
            <a:extLst>
              <a:ext uri="{FF2B5EF4-FFF2-40B4-BE49-F238E27FC236}">
                <a16:creationId xmlns:a16="http://schemas.microsoft.com/office/drawing/2014/main" id="{B9501E6A-7767-1865-2349-1AEFACE8774B}"/>
              </a:ext>
            </a:extLst>
          </p:cNvPr>
          <p:cNvPicPr preferRelativeResize="0"/>
          <p:nvPr/>
        </p:nvPicPr>
        <p:blipFill rotWithShape="1">
          <a:blip r:embed="rId4">
            <a:alphaModFix/>
          </a:blip>
          <a:srcRect/>
          <a:stretch/>
        </p:blipFill>
        <p:spPr>
          <a:xfrm>
            <a:off x="10093660" y="333500"/>
            <a:ext cx="1414398" cy="131014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850392" y="301752"/>
            <a:ext cx="2743200" cy="402336"/>
          </a:xfrm>
          <a:prstGeom prst="rect">
            <a:avLst/>
          </a:prstGeom>
          <a:noFill/>
          <a:ln/>
        </p:spPr>
        <p:txBody>
          <a:bodyPr wrap="square" lIns="0" tIns="0" rIns="0" bIns="0" rtlCol="0" anchor="ctr"/>
          <a:lstStyle/>
          <a:p>
            <a:pPr marL="0" indent="0" algn="l">
              <a:buNone/>
            </a:pPr>
            <a:endParaRPr lang="en-US" sz="1300" dirty="0"/>
          </a:p>
        </p:txBody>
      </p:sp>
      <p:sp>
        <p:nvSpPr>
          <p:cNvPr id="5" name="Text 1"/>
          <p:cNvSpPr/>
          <p:nvPr/>
        </p:nvSpPr>
        <p:spPr>
          <a:xfrm>
            <a:off x="9692640" y="649224"/>
            <a:ext cx="2057400" cy="237744"/>
          </a:xfrm>
          <a:prstGeom prst="rect">
            <a:avLst/>
          </a:prstGeom>
          <a:noFill/>
          <a:ln/>
        </p:spPr>
        <p:txBody>
          <a:bodyPr wrap="square" lIns="0" tIns="0" rIns="0" bIns="0" rtlCol="0" anchor="ctr"/>
          <a:lstStyle/>
          <a:p>
            <a:pPr marL="0" indent="0" algn="r">
              <a:buNone/>
            </a:pPr>
            <a:endParaRPr lang="en-US" sz="800" dirty="0"/>
          </a:p>
        </p:txBody>
      </p:sp>
      <p:sp>
        <p:nvSpPr>
          <p:cNvPr id="6" name="Text 2"/>
          <p:cNvSpPr/>
          <p:nvPr/>
        </p:nvSpPr>
        <p:spPr>
          <a:xfrm>
            <a:off x="457200" y="868680"/>
            <a:ext cx="11247120" cy="548640"/>
          </a:xfrm>
          <a:prstGeom prst="rect">
            <a:avLst/>
          </a:prstGeom>
          <a:noFill/>
          <a:ln/>
        </p:spPr>
        <p:txBody>
          <a:bodyPr wrap="square" lIns="0" tIns="0" rIns="0" bIns="0" rtlCol="0" anchor="ctr"/>
          <a:lstStyle/>
          <a:p>
            <a:pPr marL="0" indent="0" algn="ctr">
              <a:buNone/>
            </a:pPr>
            <a:r>
              <a:rPr lang="en-US" sz="2800" b="1" dirty="0">
                <a:solidFill>
                  <a:srgbClr val="1A1A1A"/>
                </a:solidFill>
                <a:latin typeface="Cambria" pitchFamily="34" charset="0"/>
                <a:ea typeface="Cambria" pitchFamily="34" charset="-122"/>
                <a:cs typeface="Cambria" pitchFamily="34" charset="-120"/>
              </a:rPr>
              <a:t>SYSTEM ARCHITECTURE DIAGRAM</a:t>
            </a:r>
            <a:endParaRPr lang="en-US" sz="2800" dirty="0"/>
          </a:p>
        </p:txBody>
      </p:sp>
      <p:sp>
        <p:nvSpPr>
          <p:cNvPr id="7" name="Shape 3"/>
          <p:cNvSpPr/>
          <p:nvPr/>
        </p:nvSpPr>
        <p:spPr>
          <a:xfrm>
            <a:off x="457200" y="1737360"/>
            <a:ext cx="1920240" cy="640080"/>
          </a:xfrm>
          <a:prstGeom prst="rect">
            <a:avLst/>
          </a:prstGeom>
          <a:solidFill>
            <a:srgbClr val="FFFFFF"/>
          </a:solidFill>
          <a:ln w="15875">
            <a:solidFill>
              <a:srgbClr val="1A1A1A"/>
            </a:solidFill>
            <a:prstDash val="solid"/>
          </a:ln>
        </p:spPr>
      </p:sp>
      <p:sp>
        <p:nvSpPr>
          <p:cNvPr id="8" name="Text 4"/>
          <p:cNvSpPr/>
          <p:nvPr/>
        </p:nvSpPr>
        <p:spPr>
          <a:xfrm>
            <a:off x="457200" y="1737360"/>
            <a:ext cx="1920240" cy="640080"/>
          </a:xfrm>
          <a:prstGeom prst="rect">
            <a:avLst/>
          </a:prstGeom>
          <a:noFill/>
          <a:ln/>
        </p:spPr>
        <p:txBody>
          <a:bodyPr wrap="square" lIns="50800" tIns="50800" rIns="50800" bIns="5080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Donor</a:t>
            </a:r>
            <a:endParaRPr lang="en-US" sz="1200" dirty="0"/>
          </a:p>
        </p:txBody>
      </p:sp>
      <p:sp>
        <p:nvSpPr>
          <p:cNvPr id="9" name="Shape 5"/>
          <p:cNvSpPr/>
          <p:nvPr/>
        </p:nvSpPr>
        <p:spPr>
          <a:xfrm>
            <a:off x="2697480" y="1737360"/>
            <a:ext cx="1920240" cy="640080"/>
          </a:xfrm>
          <a:prstGeom prst="rect">
            <a:avLst/>
          </a:prstGeom>
          <a:solidFill>
            <a:srgbClr val="FFFFFF"/>
          </a:solidFill>
          <a:ln w="15875">
            <a:solidFill>
              <a:srgbClr val="1A1A1A"/>
            </a:solidFill>
            <a:prstDash val="solid"/>
          </a:ln>
        </p:spPr>
      </p:sp>
      <p:sp>
        <p:nvSpPr>
          <p:cNvPr id="10" name="Text 6"/>
          <p:cNvSpPr/>
          <p:nvPr/>
        </p:nvSpPr>
        <p:spPr>
          <a:xfrm>
            <a:off x="2697480" y="1737360"/>
            <a:ext cx="1920240" cy="640080"/>
          </a:xfrm>
          <a:prstGeom prst="rect">
            <a:avLst/>
          </a:prstGeom>
          <a:noFill/>
          <a:ln/>
        </p:spPr>
        <p:txBody>
          <a:bodyPr wrap="square" lIns="50800" tIns="50800" rIns="50800" bIns="5080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Receiver (NGO)</a:t>
            </a:r>
            <a:endParaRPr lang="en-US" sz="1200" dirty="0"/>
          </a:p>
        </p:txBody>
      </p:sp>
      <p:sp>
        <p:nvSpPr>
          <p:cNvPr id="11" name="Shape 7"/>
          <p:cNvSpPr/>
          <p:nvPr/>
        </p:nvSpPr>
        <p:spPr>
          <a:xfrm>
            <a:off x="4937760" y="1737360"/>
            <a:ext cx="1920240" cy="640080"/>
          </a:xfrm>
          <a:prstGeom prst="rect">
            <a:avLst/>
          </a:prstGeom>
          <a:solidFill>
            <a:srgbClr val="FFFFFF"/>
          </a:solidFill>
          <a:ln w="15875">
            <a:solidFill>
              <a:srgbClr val="1A1A1A"/>
            </a:solidFill>
            <a:prstDash val="solid"/>
          </a:ln>
        </p:spPr>
      </p:sp>
      <p:sp>
        <p:nvSpPr>
          <p:cNvPr id="12" name="Text 8"/>
          <p:cNvSpPr/>
          <p:nvPr/>
        </p:nvSpPr>
        <p:spPr>
          <a:xfrm>
            <a:off x="4937760" y="1737360"/>
            <a:ext cx="1920240" cy="640080"/>
          </a:xfrm>
          <a:prstGeom prst="rect">
            <a:avLst/>
          </a:prstGeom>
          <a:noFill/>
          <a:ln/>
        </p:spPr>
        <p:txBody>
          <a:bodyPr wrap="square" lIns="50800" tIns="50800" rIns="50800" bIns="5080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Delivery Volunteer</a:t>
            </a:r>
            <a:endParaRPr lang="en-US" sz="1200" dirty="0"/>
          </a:p>
        </p:txBody>
      </p:sp>
      <p:sp>
        <p:nvSpPr>
          <p:cNvPr id="13" name="Shape 9"/>
          <p:cNvSpPr/>
          <p:nvPr/>
        </p:nvSpPr>
        <p:spPr>
          <a:xfrm>
            <a:off x="7178040" y="1737360"/>
            <a:ext cx="1920240" cy="640080"/>
          </a:xfrm>
          <a:prstGeom prst="rect">
            <a:avLst/>
          </a:prstGeom>
          <a:solidFill>
            <a:srgbClr val="FFFFFF"/>
          </a:solidFill>
          <a:ln w="15875">
            <a:solidFill>
              <a:srgbClr val="1A1A1A"/>
            </a:solidFill>
            <a:prstDash val="solid"/>
          </a:ln>
        </p:spPr>
      </p:sp>
      <p:sp>
        <p:nvSpPr>
          <p:cNvPr id="14" name="Text 10"/>
          <p:cNvSpPr/>
          <p:nvPr/>
        </p:nvSpPr>
        <p:spPr>
          <a:xfrm>
            <a:off x="7178040" y="1737360"/>
            <a:ext cx="1920240" cy="640080"/>
          </a:xfrm>
          <a:prstGeom prst="rect">
            <a:avLst/>
          </a:prstGeom>
          <a:noFill/>
          <a:ln/>
        </p:spPr>
        <p:txBody>
          <a:bodyPr wrap="square" lIns="50800" tIns="50800" rIns="50800" bIns="5080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Admin</a:t>
            </a:r>
            <a:endParaRPr lang="en-US" sz="1200" dirty="0"/>
          </a:p>
        </p:txBody>
      </p:sp>
      <p:sp>
        <p:nvSpPr>
          <p:cNvPr id="15" name="Shape 11"/>
          <p:cNvSpPr/>
          <p:nvPr/>
        </p:nvSpPr>
        <p:spPr>
          <a:xfrm>
            <a:off x="9418320" y="1737360"/>
            <a:ext cx="2286000" cy="640080"/>
          </a:xfrm>
          <a:prstGeom prst="rect">
            <a:avLst/>
          </a:prstGeom>
          <a:solidFill>
            <a:srgbClr val="FFFFFF"/>
          </a:solidFill>
          <a:ln w="15875">
            <a:solidFill>
              <a:srgbClr val="1A1A1A"/>
            </a:solidFill>
            <a:prstDash val="solid"/>
          </a:ln>
        </p:spPr>
      </p:sp>
      <p:sp>
        <p:nvSpPr>
          <p:cNvPr id="16" name="Text 12"/>
          <p:cNvSpPr/>
          <p:nvPr/>
        </p:nvSpPr>
        <p:spPr>
          <a:xfrm>
            <a:off x="9418320" y="1737360"/>
            <a:ext cx="2286000" cy="640080"/>
          </a:xfrm>
          <a:prstGeom prst="rect">
            <a:avLst/>
          </a:prstGeom>
          <a:noFill/>
          <a:ln/>
        </p:spPr>
        <p:txBody>
          <a:bodyPr wrap="square" lIns="50800" tIns="50800" rIns="50800" bIns="5080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Web / Mobile Interface</a:t>
            </a:r>
            <a:endParaRPr lang="en-US" sz="1200" dirty="0"/>
          </a:p>
        </p:txBody>
      </p:sp>
      <p:sp>
        <p:nvSpPr>
          <p:cNvPr id="17" name="Text 13"/>
          <p:cNvSpPr/>
          <p:nvPr/>
        </p:nvSpPr>
        <p:spPr>
          <a:xfrm>
            <a:off x="1234440" y="2432304"/>
            <a:ext cx="365760" cy="27432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t>
            </a:r>
            <a:endParaRPr lang="en-US" sz="1600" dirty="0"/>
          </a:p>
        </p:txBody>
      </p:sp>
      <p:sp>
        <p:nvSpPr>
          <p:cNvPr id="18" name="Text 14"/>
          <p:cNvSpPr/>
          <p:nvPr/>
        </p:nvSpPr>
        <p:spPr>
          <a:xfrm>
            <a:off x="3474720" y="2432304"/>
            <a:ext cx="365760" cy="27432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t>
            </a:r>
            <a:endParaRPr lang="en-US" sz="1600" dirty="0"/>
          </a:p>
        </p:txBody>
      </p:sp>
      <p:sp>
        <p:nvSpPr>
          <p:cNvPr id="19" name="Text 15"/>
          <p:cNvSpPr/>
          <p:nvPr/>
        </p:nvSpPr>
        <p:spPr>
          <a:xfrm>
            <a:off x="5715000" y="2432304"/>
            <a:ext cx="365760" cy="27432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t>
            </a:r>
            <a:endParaRPr lang="en-US" sz="1600" dirty="0"/>
          </a:p>
        </p:txBody>
      </p:sp>
      <p:sp>
        <p:nvSpPr>
          <p:cNvPr id="20" name="Text 16"/>
          <p:cNvSpPr/>
          <p:nvPr/>
        </p:nvSpPr>
        <p:spPr>
          <a:xfrm>
            <a:off x="7955280" y="2432304"/>
            <a:ext cx="365760" cy="27432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t>
            </a:r>
            <a:endParaRPr lang="en-US" sz="1600" dirty="0"/>
          </a:p>
        </p:txBody>
      </p:sp>
      <p:sp>
        <p:nvSpPr>
          <p:cNvPr id="21" name="Text 17"/>
          <p:cNvSpPr/>
          <p:nvPr/>
        </p:nvSpPr>
        <p:spPr>
          <a:xfrm>
            <a:off x="10378440" y="2432304"/>
            <a:ext cx="365760" cy="27432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t>
            </a:r>
            <a:endParaRPr lang="en-US" sz="1600" dirty="0"/>
          </a:p>
        </p:txBody>
      </p:sp>
      <p:sp>
        <p:nvSpPr>
          <p:cNvPr id="22" name="Shape 18"/>
          <p:cNvSpPr/>
          <p:nvPr/>
        </p:nvSpPr>
        <p:spPr>
          <a:xfrm>
            <a:off x="640080" y="3017520"/>
            <a:ext cx="10881360" cy="777240"/>
          </a:xfrm>
          <a:prstGeom prst="rect">
            <a:avLst/>
          </a:prstGeom>
          <a:solidFill>
            <a:srgbClr val="FFFFFF"/>
          </a:solidFill>
          <a:ln w="15875">
            <a:solidFill>
              <a:srgbClr val="1A1A1A"/>
            </a:solidFill>
            <a:prstDash val="solid"/>
          </a:ln>
        </p:spPr>
      </p:sp>
      <p:sp>
        <p:nvSpPr>
          <p:cNvPr id="23" name="Text 19"/>
          <p:cNvSpPr/>
          <p:nvPr/>
        </p:nvSpPr>
        <p:spPr>
          <a:xfrm>
            <a:off x="640080" y="3017520"/>
            <a:ext cx="10881360" cy="777240"/>
          </a:xfrm>
          <a:prstGeom prst="rect">
            <a:avLst/>
          </a:prstGeom>
          <a:noFill/>
          <a:ln/>
        </p:spPr>
        <p:txBody>
          <a:bodyPr wrap="square" lIns="50800" tIns="50800" rIns="50800" bIns="5080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Application Server  —  User Mgmt · Donation Mgmt · Request &amp; Approval · Delivery Mgmt · Reports</a:t>
            </a:r>
            <a:endParaRPr lang="en-US" sz="1200" dirty="0"/>
          </a:p>
        </p:txBody>
      </p:sp>
      <p:sp>
        <p:nvSpPr>
          <p:cNvPr id="24" name="Text 20"/>
          <p:cNvSpPr/>
          <p:nvPr/>
        </p:nvSpPr>
        <p:spPr>
          <a:xfrm>
            <a:off x="5897880" y="3858768"/>
            <a:ext cx="365760" cy="274320"/>
          </a:xfrm>
          <a:prstGeom prst="rect">
            <a:avLst/>
          </a:prstGeom>
          <a:noFill/>
          <a:ln/>
        </p:spPr>
        <p:txBody>
          <a:bodyPr wrap="square" lIns="0" tIns="0" rIns="0" bIns="0" rtlCol="0" anchor="ctr"/>
          <a:lstStyle/>
          <a:p>
            <a:pPr marL="0" indent="0" algn="ctr">
              <a:buNone/>
            </a:pPr>
            <a:r>
              <a:rPr lang="en-US" sz="1600" dirty="0">
                <a:solidFill>
                  <a:srgbClr val="1A1A1A"/>
                </a:solidFill>
                <a:latin typeface="Calibri" pitchFamily="34" charset="0"/>
                <a:ea typeface="Calibri" pitchFamily="34" charset="-122"/>
                <a:cs typeface="Calibri" pitchFamily="34" charset="-120"/>
              </a:rPr>
              <a:t>▼</a:t>
            </a:r>
            <a:endParaRPr lang="en-US" sz="1600" dirty="0"/>
          </a:p>
        </p:txBody>
      </p:sp>
      <p:sp>
        <p:nvSpPr>
          <p:cNvPr id="25" name="Shape 21"/>
          <p:cNvSpPr/>
          <p:nvPr/>
        </p:nvSpPr>
        <p:spPr>
          <a:xfrm>
            <a:off x="4480560" y="4206240"/>
            <a:ext cx="3200400" cy="685800"/>
          </a:xfrm>
          <a:prstGeom prst="rect">
            <a:avLst/>
          </a:prstGeom>
          <a:solidFill>
            <a:srgbClr val="FFFFFF"/>
          </a:solidFill>
          <a:ln w="15875">
            <a:solidFill>
              <a:srgbClr val="1A1A1A"/>
            </a:solidFill>
            <a:prstDash val="solid"/>
          </a:ln>
        </p:spPr>
      </p:sp>
      <p:sp>
        <p:nvSpPr>
          <p:cNvPr id="26" name="Text 22"/>
          <p:cNvSpPr/>
          <p:nvPr/>
        </p:nvSpPr>
        <p:spPr>
          <a:xfrm>
            <a:off x="4480560" y="4206240"/>
            <a:ext cx="3200400" cy="685800"/>
          </a:xfrm>
          <a:prstGeom prst="rect">
            <a:avLst/>
          </a:prstGeom>
          <a:noFill/>
          <a:ln/>
        </p:spPr>
        <p:txBody>
          <a:bodyPr wrap="square" lIns="50800" tIns="50800" rIns="50800" bIns="50800"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Database  (Users · Donations · Requests · Deliveries)</a:t>
            </a:r>
            <a:endParaRPr lang="en-US" sz="1200" dirty="0"/>
          </a:p>
        </p:txBody>
      </p:sp>
      <p:sp>
        <p:nvSpPr>
          <p:cNvPr id="27" name="Text 23"/>
          <p:cNvSpPr/>
          <p:nvPr/>
        </p:nvSpPr>
        <p:spPr>
          <a:xfrm>
            <a:off x="548640" y="5166360"/>
            <a:ext cx="11064240" cy="822960"/>
          </a:xfrm>
          <a:prstGeom prst="rect">
            <a:avLst/>
          </a:prstGeom>
          <a:noFill/>
          <a:ln/>
        </p:spPr>
        <p:txBody>
          <a:bodyPr wrap="square" lIns="0" tIns="0" rIns="0" bIns="0" rtlCol="0" anchor="ctr"/>
          <a:lstStyle/>
          <a:p>
            <a:pPr marL="0" indent="0" algn="l">
              <a:lnSpc>
                <a:spcPct val="120000"/>
              </a:lnSpc>
              <a:buNone/>
            </a:pPr>
            <a:r>
              <a:rPr lang="en-US" sz="1300" i="1" dirty="0">
                <a:solidFill>
                  <a:srgbClr val="595959"/>
                </a:solidFill>
                <a:latin typeface="Calibri" pitchFamily="34" charset="0"/>
                <a:ea typeface="Calibri" pitchFamily="34" charset="-122"/>
                <a:cs typeface="Calibri" pitchFamily="34" charset="-120"/>
              </a:rPr>
              <a:t>The application server handles all business logic across the five modules and communicates with a central database that stores users, donations, requests, and delivery records.</a:t>
            </a:r>
            <a:endParaRPr lang="en-US" sz="1300" dirty="0"/>
          </a:p>
        </p:txBody>
      </p:sp>
      <p:pic>
        <p:nvPicPr>
          <p:cNvPr id="29" name="Google Shape;94;p2" descr="A blue gear with a symbol and text&#10;&#10;AI-generated content may be incorrect.">
            <a:extLst>
              <a:ext uri="{FF2B5EF4-FFF2-40B4-BE49-F238E27FC236}">
                <a16:creationId xmlns:a16="http://schemas.microsoft.com/office/drawing/2014/main" id="{760C239B-CFB0-AA12-FF14-0263D6013A11}"/>
              </a:ext>
            </a:extLst>
          </p:cNvPr>
          <p:cNvPicPr preferRelativeResize="0"/>
          <p:nvPr/>
        </p:nvPicPr>
        <p:blipFill rotWithShape="1">
          <a:blip r:embed="rId3">
            <a:alphaModFix/>
          </a:blip>
          <a:srcRect/>
          <a:stretch/>
        </p:blipFill>
        <p:spPr>
          <a:xfrm>
            <a:off x="10561320" y="76448"/>
            <a:ext cx="1414398" cy="1310145"/>
          </a:xfrm>
          <a:prstGeom prst="rect">
            <a:avLst/>
          </a:prstGeom>
          <a:noFill/>
          <a:ln>
            <a:noFill/>
          </a:ln>
        </p:spPr>
      </p:pic>
      <p:pic>
        <p:nvPicPr>
          <p:cNvPr id="31" name="Google Shape;95;p2" descr="A logo with blue green and orange letters&#10;&#10;AI-generated content may be incorrect.">
            <a:extLst>
              <a:ext uri="{FF2B5EF4-FFF2-40B4-BE49-F238E27FC236}">
                <a16:creationId xmlns:a16="http://schemas.microsoft.com/office/drawing/2014/main" id="{5A4055E9-C773-D5E5-0EDF-A237247AC077}"/>
              </a:ext>
            </a:extLst>
          </p:cNvPr>
          <p:cNvPicPr preferRelativeResize="0"/>
          <p:nvPr/>
        </p:nvPicPr>
        <p:blipFill rotWithShape="1">
          <a:blip r:embed="rId4">
            <a:alphaModFix/>
          </a:blip>
          <a:srcRect/>
          <a:stretch/>
        </p:blipFill>
        <p:spPr>
          <a:xfrm>
            <a:off x="271258" y="171854"/>
            <a:ext cx="1158267" cy="139365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850392" y="301752"/>
            <a:ext cx="2743200" cy="402336"/>
          </a:xfrm>
          <a:prstGeom prst="rect">
            <a:avLst/>
          </a:prstGeom>
          <a:noFill/>
          <a:ln/>
        </p:spPr>
        <p:txBody>
          <a:bodyPr wrap="square" lIns="0" tIns="0" rIns="0" bIns="0" rtlCol="0" anchor="ctr"/>
          <a:lstStyle/>
          <a:p>
            <a:pPr marL="0" indent="0" algn="l">
              <a:buNone/>
            </a:pPr>
            <a:endParaRPr lang="en-US" sz="1300" dirty="0"/>
          </a:p>
        </p:txBody>
      </p:sp>
      <p:sp>
        <p:nvSpPr>
          <p:cNvPr id="6" name="Text 2"/>
          <p:cNvSpPr/>
          <p:nvPr/>
        </p:nvSpPr>
        <p:spPr>
          <a:xfrm>
            <a:off x="457200" y="868680"/>
            <a:ext cx="11247120" cy="548640"/>
          </a:xfrm>
          <a:prstGeom prst="rect">
            <a:avLst/>
          </a:prstGeom>
          <a:noFill/>
          <a:ln/>
        </p:spPr>
        <p:txBody>
          <a:bodyPr wrap="square" lIns="0" tIns="0" rIns="0" bIns="0" rtlCol="0" anchor="ctr"/>
          <a:lstStyle/>
          <a:p>
            <a:pPr algn="ctr"/>
            <a:r>
              <a:rPr lang="en-US" sz="2800" b="1" dirty="0">
                <a:solidFill>
                  <a:srgbClr val="1A1A1A"/>
                </a:solidFill>
                <a:latin typeface="Cambria" pitchFamily="34" charset="0"/>
                <a:ea typeface="Cambria" pitchFamily="34" charset="-122"/>
                <a:cs typeface="Cambria" pitchFamily="34" charset="-120"/>
              </a:rPr>
              <a:t>PROPOSED METHODOLOGY</a:t>
            </a:r>
            <a:endParaRPr lang="en-US" sz="2800" dirty="0"/>
          </a:p>
        </p:txBody>
      </p:sp>
      <p:sp>
        <p:nvSpPr>
          <p:cNvPr id="7" name="Text 3"/>
          <p:cNvSpPr/>
          <p:nvPr/>
        </p:nvSpPr>
        <p:spPr>
          <a:xfrm>
            <a:off x="457200" y="1685572"/>
            <a:ext cx="11064240" cy="4420260"/>
          </a:xfrm>
          <a:prstGeom prst="rect">
            <a:avLst/>
          </a:prstGeom>
          <a:noFill/>
          <a:ln/>
        </p:spPr>
        <p:txBody>
          <a:bodyPr wrap="square" lIns="0" tIns="0" rIns="0" bIns="0" rtlCol="0" anchor="ctr"/>
          <a:lstStyle/>
          <a:p>
            <a:pPr marL="228600" indent="-228600" algn="l">
              <a:lnSpc>
                <a:spcPct val="120000"/>
              </a:lnSpc>
              <a:buSzPct val="100000"/>
              <a:buChar char="■"/>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Frontend: </a:t>
            </a: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HTML, CSS, JavaScript, React</a:t>
            </a:r>
            <a:endParaRPr lang="en-US" sz="1600" dirty="0">
              <a:latin typeface="Times New Roman" panose="02020603050405020304" pitchFamily="18" charset="0"/>
              <a:cs typeface="Times New Roman" panose="02020603050405020304" pitchFamily="18" charset="0"/>
            </a:endParaRPr>
          </a:p>
          <a:p>
            <a:pPr marL="228600" indent="-228600" algn="l">
              <a:lnSpc>
                <a:spcPct val="120000"/>
              </a:lnSpc>
              <a:buSzPct val="100000"/>
              <a:buChar char="■"/>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Backend: </a:t>
            </a: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Python </a:t>
            </a:r>
          </a:p>
          <a:p>
            <a:pPr marL="228600" indent="-228600" algn="l">
              <a:lnSpc>
                <a:spcPct val="120000"/>
              </a:lnSpc>
              <a:buSzPct val="100000"/>
              <a:buChar char="■"/>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Database: </a:t>
            </a: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MySQL</a:t>
            </a:r>
            <a:endParaRPr lang="en-US" sz="1600" dirty="0">
              <a:latin typeface="Times New Roman" panose="02020603050405020304" pitchFamily="18" charset="0"/>
              <a:cs typeface="Times New Roman" panose="02020603050405020304" pitchFamily="18" charset="0"/>
            </a:endParaRPr>
          </a:p>
          <a:p>
            <a:pPr marL="228600" indent="-228600" algn="l">
              <a:lnSpc>
                <a:spcPct val="120000"/>
              </a:lnSpc>
              <a:buSzPct val="100000"/>
              <a:buChar char="■"/>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Development Tools: </a:t>
            </a: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VS Code, GitHub</a:t>
            </a:r>
          </a:p>
          <a:p>
            <a:pPr marL="228600" indent="-228600" algn="l">
              <a:lnSpc>
                <a:spcPct val="120000"/>
              </a:lnSpc>
              <a:buSzPct val="100000"/>
              <a:buChar char="■"/>
            </a:pPr>
            <a:endParaRPr lang="en-US" sz="1600" dirty="0">
              <a:solidFill>
                <a:srgbClr val="1A1A1A"/>
              </a:solidFill>
              <a:latin typeface="Times New Roman" panose="02020603050405020304" pitchFamily="18" charset="0"/>
              <a:ea typeface="Calibri" pitchFamily="34" charset="-122"/>
              <a:cs typeface="Times New Roman" panose="02020603050405020304" pitchFamily="18" charset="0"/>
            </a:endParaRPr>
          </a:p>
          <a:p>
            <a:pPr marL="228600" indent="-228600" algn="l">
              <a:lnSpc>
                <a:spcPct val="120000"/>
              </a:lnSpc>
              <a:buSzPct val="100000"/>
              <a:buChar char="■"/>
            </a:pPr>
            <a:endParaRPr lang="en-US" sz="1600" dirty="0">
              <a:solidFill>
                <a:srgbClr val="1A1A1A"/>
              </a:solidFill>
              <a:latin typeface="Times New Roman" panose="02020603050405020304" pitchFamily="18" charset="0"/>
              <a:ea typeface="Calibri" pitchFamily="34" charset="-122"/>
              <a:cs typeface="Times New Roman" panose="02020603050405020304" pitchFamily="18" charset="0"/>
            </a:endParaRPr>
          </a:p>
          <a:p>
            <a:pPr algn="l">
              <a:lnSpc>
                <a:spcPct val="120000"/>
              </a:lnSpc>
              <a:buSzPct val="100000"/>
            </a:pPr>
            <a:endParaRPr lang="en-US" sz="1600" dirty="0">
              <a:solidFill>
                <a:srgbClr val="1A1A1A"/>
              </a:solidFill>
              <a:latin typeface="Times New Roman" panose="02020603050405020304" pitchFamily="18" charset="0"/>
              <a:ea typeface="Calibri" pitchFamily="34" charset="-122"/>
              <a:cs typeface="Times New Roman" panose="02020603050405020304" pitchFamily="18" charset="0"/>
            </a:endParaRPr>
          </a:p>
          <a:p>
            <a:pPr marL="228600" indent="-228600">
              <a:lnSpc>
                <a:spcPct val="120000"/>
              </a:lnSpc>
              <a:buSzPct val="100000"/>
              <a:buChar char="■"/>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User Registration – </a:t>
            </a: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Donors, receivers, and volunteers register and verify their accounts on the platform.</a:t>
            </a:r>
            <a:endParaRPr lang="en-US" sz="1600" dirty="0">
              <a:latin typeface="Times New Roman" panose="02020603050405020304" pitchFamily="18" charset="0"/>
              <a:cs typeface="Times New Roman" panose="02020603050405020304" pitchFamily="18" charset="0"/>
            </a:endParaRPr>
          </a:p>
          <a:p>
            <a:pPr marL="228600" indent="-228600">
              <a:lnSpc>
                <a:spcPct val="120000"/>
              </a:lnSpc>
              <a:buSzPct val="100000"/>
              <a:buChar char="■"/>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Food Donation Listing – </a:t>
            </a: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Donors list surplus food with details such as type, quantity, and pickup window.</a:t>
            </a:r>
            <a:endParaRPr lang="en-US" sz="1600" dirty="0">
              <a:latin typeface="Times New Roman" panose="02020603050405020304" pitchFamily="18" charset="0"/>
              <a:cs typeface="Times New Roman" panose="02020603050405020304" pitchFamily="18" charset="0"/>
            </a:endParaRPr>
          </a:p>
          <a:p>
            <a:pPr marL="228600" indent="-228600">
              <a:lnSpc>
                <a:spcPct val="120000"/>
              </a:lnSpc>
              <a:buSzPct val="100000"/>
              <a:buChar char="■"/>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Request &amp; Approval – </a:t>
            </a: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Receivers browse listings and submit requests; admins or donors approve valid requests.</a:t>
            </a:r>
            <a:endParaRPr lang="en-US" sz="1600" dirty="0">
              <a:latin typeface="Times New Roman" panose="02020603050405020304" pitchFamily="18" charset="0"/>
              <a:cs typeface="Times New Roman" panose="02020603050405020304" pitchFamily="18" charset="0"/>
            </a:endParaRPr>
          </a:p>
          <a:p>
            <a:pPr marL="228600" indent="-228600">
              <a:lnSpc>
                <a:spcPct val="120000"/>
              </a:lnSpc>
              <a:buSzPct val="100000"/>
              <a:buChar char="■"/>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Delivery Coordination – </a:t>
            </a: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A volunteer or delivery agent is assigned to pick up and deliver the approved donation.</a:t>
            </a:r>
            <a:endParaRPr lang="en-US" sz="1600" dirty="0">
              <a:latin typeface="Times New Roman" panose="02020603050405020304" pitchFamily="18" charset="0"/>
              <a:cs typeface="Times New Roman" panose="02020603050405020304" pitchFamily="18" charset="0"/>
            </a:endParaRPr>
          </a:p>
          <a:p>
            <a:pPr marL="228600" indent="-228600">
              <a:lnSpc>
                <a:spcPct val="120000"/>
              </a:lnSpc>
              <a:buSzPct val="100000"/>
              <a:buChar char="■"/>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Tracking &amp; Reporting – </a:t>
            </a: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Status updates are logged at each stage and consolidated into admin reports.</a:t>
            </a:r>
            <a:endParaRPr lang="en-US" sz="1600" dirty="0">
              <a:latin typeface="Times New Roman" panose="02020603050405020304" pitchFamily="18" charset="0"/>
              <a:cs typeface="Times New Roman" panose="02020603050405020304" pitchFamily="18" charset="0"/>
            </a:endParaRPr>
          </a:p>
          <a:p>
            <a:pPr algn="l">
              <a:lnSpc>
                <a:spcPct val="120000"/>
              </a:lnSpc>
              <a:buSzPct val="100000"/>
            </a:pPr>
            <a:endParaRPr lang="en-US" sz="1600" dirty="0">
              <a:latin typeface="Times New Roman" panose="02020603050405020304" pitchFamily="18" charset="0"/>
              <a:cs typeface="Times New Roman" panose="02020603050405020304" pitchFamily="18" charset="0"/>
            </a:endParaRPr>
          </a:p>
        </p:txBody>
      </p:sp>
      <p:pic>
        <p:nvPicPr>
          <p:cNvPr id="9" name="Google Shape;95;p2" descr="A logo with blue green and orange letters&#10;&#10;AI-generated content may be incorrect.">
            <a:extLst>
              <a:ext uri="{FF2B5EF4-FFF2-40B4-BE49-F238E27FC236}">
                <a16:creationId xmlns:a16="http://schemas.microsoft.com/office/drawing/2014/main" id="{4D11F2FA-0B5B-1611-2246-2D25AD454931}"/>
              </a:ext>
            </a:extLst>
          </p:cNvPr>
          <p:cNvPicPr preferRelativeResize="0"/>
          <p:nvPr/>
        </p:nvPicPr>
        <p:blipFill rotWithShape="1">
          <a:blip r:embed="rId3">
            <a:alphaModFix/>
          </a:blip>
          <a:srcRect/>
          <a:stretch/>
        </p:blipFill>
        <p:spPr>
          <a:xfrm>
            <a:off x="271258" y="171854"/>
            <a:ext cx="1158267" cy="1393652"/>
          </a:xfrm>
          <a:prstGeom prst="rect">
            <a:avLst/>
          </a:prstGeom>
          <a:noFill/>
          <a:ln>
            <a:noFill/>
          </a:ln>
        </p:spPr>
      </p:pic>
      <p:pic>
        <p:nvPicPr>
          <p:cNvPr id="11" name="Google Shape;94;p2" descr="A blue gear with a symbol and text&#10;&#10;AI-generated content may be incorrect.">
            <a:extLst>
              <a:ext uri="{FF2B5EF4-FFF2-40B4-BE49-F238E27FC236}">
                <a16:creationId xmlns:a16="http://schemas.microsoft.com/office/drawing/2014/main" id="{708FC828-7F35-6BBA-13C7-9A311A1241D5}"/>
              </a:ext>
            </a:extLst>
          </p:cNvPr>
          <p:cNvPicPr preferRelativeResize="0"/>
          <p:nvPr/>
        </p:nvPicPr>
        <p:blipFill rotWithShape="1">
          <a:blip r:embed="rId4">
            <a:alphaModFix/>
          </a:blip>
          <a:srcRect/>
          <a:stretch/>
        </p:blipFill>
        <p:spPr>
          <a:xfrm>
            <a:off x="10747440" y="107175"/>
            <a:ext cx="1414398" cy="131014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B0F3DE-7C1C-7278-2076-420A43284E86}"/>
              </a:ext>
            </a:extLst>
          </p:cNvPr>
          <p:cNvPicPr>
            <a:picLocks noChangeAspect="1"/>
          </p:cNvPicPr>
          <p:nvPr/>
        </p:nvPicPr>
        <p:blipFill>
          <a:blip r:embed="rId2"/>
          <a:stretch>
            <a:fillRect/>
          </a:stretch>
        </p:blipFill>
        <p:spPr>
          <a:xfrm>
            <a:off x="0" y="677384"/>
            <a:ext cx="12161838" cy="5503232"/>
          </a:xfrm>
          <a:prstGeom prst="rect">
            <a:avLst/>
          </a:prstGeom>
        </p:spPr>
      </p:pic>
    </p:spTree>
    <p:extLst>
      <p:ext uri="{BB962C8B-B14F-4D97-AF65-F5344CB8AC3E}">
        <p14:creationId xmlns:p14="http://schemas.microsoft.com/office/powerpoint/2010/main" val="1705385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6" name="Text 2"/>
          <p:cNvSpPr/>
          <p:nvPr/>
        </p:nvSpPr>
        <p:spPr>
          <a:xfrm>
            <a:off x="457200" y="868680"/>
            <a:ext cx="11247120" cy="548640"/>
          </a:xfrm>
          <a:prstGeom prst="rect">
            <a:avLst/>
          </a:prstGeom>
          <a:noFill/>
          <a:ln/>
        </p:spPr>
        <p:txBody>
          <a:bodyPr wrap="square" lIns="0" tIns="0" rIns="0" bIns="0" rtlCol="0" anchor="ctr"/>
          <a:lstStyle/>
          <a:p>
            <a:pPr marL="0" indent="0" algn="ctr">
              <a:buNone/>
            </a:pPr>
            <a:r>
              <a:rPr lang="en-US" sz="2800" b="1" dirty="0">
                <a:solidFill>
                  <a:srgbClr val="1A1A1A"/>
                </a:solidFill>
                <a:latin typeface="Cambria" pitchFamily="34" charset="0"/>
                <a:ea typeface="Cambria" pitchFamily="34" charset="-122"/>
                <a:cs typeface="Cambria" pitchFamily="34" charset="-120"/>
              </a:rPr>
              <a:t>MODULE-WISE DESIGN</a:t>
            </a:r>
            <a:endParaRPr lang="en-US" sz="2800" dirty="0"/>
          </a:p>
        </p:txBody>
      </p:sp>
      <p:sp>
        <p:nvSpPr>
          <p:cNvPr id="7" name="Text 3"/>
          <p:cNvSpPr/>
          <p:nvPr/>
        </p:nvSpPr>
        <p:spPr>
          <a:xfrm>
            <a:off x="483310" y="1049102"/>
            <a:ext cx="11064240" cy="4480560"/>
          </a:xfrm>
          <a:prstGeom prst="rect">
            <a:avLst/>
          </a:prstGeom>
          <a:noFill/>
          <a:ln/>
        </p:spPr>
        <p:txBody>
          <a:bodyPr wrap="square" lIns="0" tIns="0" rIns="0" bIns="0" rtlCol="0" anchor="ctr"/>
          <a:lstStyle/>
          <a:p>
            <a:pPr marL="285750" indent="-285750" algn="l">
              <a:lnSpc>
                <a:spcPct val="200000"/>
              </a:lnSpc>
              <a:buSzPct val="100000"/>
              <a:buFont typeface="Wingdings" panose="05000000000000000000" pitchFamily="2" charset="2"/>
              <a:buChar char="Ø"/>
            </a:pPr>
            <a:r>
              <a:rPr lang="en-US" b="1" dirty="0">
                <a:solidFill>
                  <a:srgbClr val="1A1A1A"/>
                </a:solidFill>
                <a:latin typeface="Times New Roman" panose="02020603050405020304" pitchFamily="18" charset="0"/>
                <a:ea typeface="Calibri" pitchFamily="34" charset="-122"/>
                <a:cs typeface="Times New Roman" panose="02020603050405020304" pitchFamily="18" charset="0"/>
              </a:rPr>
              <a:t>User Management – </a:t>
            </a:r>
            <a:r>
              <a:rPr lang="en-US" dirty="0">
                <a:solidFill>
                  <a:srgbClr val="1A1A1A"/>
                </a:solidFill>
                <a:latin typeface="Times New Roman" panose="02020603050405020304" pitchFamily="18" charset="0"/>
                <a:ea typeface="Calibri" pitchFamily="34" charset="-122"/>
                <a:cs typeface="Times New Roman" panose="02020603050405020304" pitchFamily="18" charset="0"/>
              </a:rPr>
              <a:t>Registration, login, and role-based access for donors, receivers, volunteers, and admins.</a:t>
            </a:r>
            <a:endParaRPr lang="en-US" dirty="0">
              <a:latin typeface="Times New Roman" panose="02020603050405020304" pitchFamily="18" charset="0"/>
              <a:cs typeface="Times New Roman" panose="02020603050405020304" pitchFamily="18" charset="0"/>
            </a:endParaRPr>
          </a:p>
          <a:p>
            <a:pPr marL="285750" indent="-285750" algn="l">
              <a:lnSpc>
                <a:spcPct val="200000"/>
              </a:lnSpc>
              <a:buSzPct val="100000"/>
              <a:buFont typeface="Wingdings" panose="05000000000000000000" pitchFamily="2" charset="2"/>
              <a:buChar char="Ø"/>
            </a:pPr>
            <a:r>
              <a:rPr lang="en-US" b="1" dirty="0">
                <a:solidFill>
                  <a:srgbClr val="1A1A1A"/>
                </a:solidFill>
                <a:latin typeface="Times New Roman" panose="02020603050405020304" pitchFamily="18" charset="0"/>
                <a:ea typeface="Calibri" pitchFamily="34" charset="-122"/>
                <a:cs typeface="Times New Roman" panose="02020603050405020304" pitchFamily="18" charset="0"/>
              </a:rPr>
              <a:t>Food Donation Management – </a:t>
            </a:r>
            <a:r>
              <a:rPr lang="en-US" dirty="0">
                <a:solidFill>
                  <a:srgbClr val="1A1A1A"/>
                </a:solidFill>
                <a:latin typeface="Times New Roman" panose="02020603050405020304" pitchFamily="18" charset="0"/>
                <a:ea typeface="Calibri" pitchFamily="34" charset="-122"/>
                <a:cs typeface="Times New Roman" panose="02020603050405020304" pitchFamily="18" charset="0"/>
              </a:rPr>
              <a:t>Donors list surplus food with quantity, type, and pickup details.</a:t>
            </a:r>
            <a:endParaRPr lang="en-US" dirty="0">
              <a:latin typeface="Times New Roman" panose="02020603050405020304" pitchFamily="18" charset="0"/>
              <a:cs typeface="Times New Roman" panose="02020603050405020304" pitchFamily="18" charset="0"/>
            </a:endParaRPr>
          </a:p>
          <a:p>
            <a:pPr marL="285750" indent="-285750" algn="l">
              <a:lnSpc>
                <a:spcPct val="200000"/>
              </a:lnSpc>
              <a:buSzPct val="100000"/>
              <a:buFont typeface="Wingdings" panose="05000000000000000000" pitchFamily="2" charset="2"/>
              <a:buChar char="Ø"/>
            </a:pPr>
            <a:r>
              <a:rPr lang="en-US" b="1" dirty="0">
                <a:solidFill>
                  <a:srgbClr val="1A1A1A"/>
                </a:solidFill>
                <a:latin typeface="Times New Roman" panose="02020603050405020304" pitchFamily="18" charset="0"/>
                <a:ea typeface="Calibri" pitchFamily="34" charset="-122"/>
                <a:cs typeface="Times New Roman" panose="02020603050405020304" pitchFamily="18" charset="0"/>
              </a:rPr>
              <a:t>Food Request &amp; Approval – </a:t>
            </a:r>
            <a:r>
              <a:rPr lang="en-US" dirty="0">
                <a:solidFill>
                  <a:srgbClr val="1A1A1A"/>
                </a:solidFill>
                <a:latin typeface="Times New Roman" panose="02020603050405020304" pitchFamily="18" charset="0"/>
                <a:ea typeface="Calibri" pitchFamily="34" charset="-122"/>
                <a:cs typeface="Times New Roman" panose="02020603050405020304" pitchFamily="18" charset="0"/>
              </a:rPr>
              <a:t>Receivers submit requests for listed donations; requests are reviewed and approved.</a:t>
            </a:r>
            <a:endParaRPr lang="en-US" dirty="0">
              <a:latin typeface="Times New Roman" panose="02020603050405020304" pitchFamily="18" charset="0"/>
              <a:cs typeface="Times New Roman" panose="02020603050405020304" pitchFamily="18" charset="0"/>
            </a:endParaRPr>
          </a:p>
          <a:p>
            <a:pPr marL="285750" indent="-285750" algn="l">
              <a:lnSpc>
                <a:spcPct val="200000"/>
              </a:lnSpc>
              <a:buSzPct val="100000"/>
              <a:buFont typeface="Wingdings" panose="05000000000000000000" pitchFamily="2" charset="2"/>
              <a:buChar char="Ø"/>
            </a:pPr>
            <a:r>
              <a:rPr lang="en-US" b="1" dirty="0">
                <a:solidFill>
                  <a:srgbClr val="1A1A1A"/>
                </a:solidFill>
                <a:latin typeface="Times New Roman" panose="02020603050405020304" pitchFamily="18" charset="0"/>
                <a:ea typeface="Calibri" pitchFamily="34" charset="-122"/>
                <a:cs typeface="Times New Roman" panose="02020603050405020304" pitchFamily="18" charset="0"/>
              </a:rPr>
              <a:t>Delivery Management – </a:t>
            </a:r>
            <a:r>
              <a:rPr lang="en-US" dirty="0">
                <a:solidFill>
                  <a:srgbClr val="1A1A1A"/>
                </a:solidFill>
                <a:latin typeface="Times New Roman" panose="02020603050405020304" pitchFamily="18" charset="0"/>
                <a:ea typeface="Calibri" pitchFamily="34" charset="-122"/>
                <a:cs typeface="Times New Roman" panose="02020603050405020304" pitchFamily="18" charset="0"/>
              </a:rPr>
              <a:t>Assigns volunteers to approved requests and tracks pickup-to-delivery status.</a:t>
            </a:r>
            <a:endParaRPr lang="en-US" dirty="0">
              <a:latin typeface="Times New Roman" panose="02020603050405020304" pitchFamily="18" charset="0"/>
              <a:cs typeface="Times New Roman" panose="02020603050405020304" pitchFamily="18" charset="0"/>
            </a:endParaRPr>
          </a:p>
          <a:p>
            <a:pPr marL="285750" indent="-285750" algn="l">
              <a:lnSpc>
                <a:spcPct val="200000"/>
              </a:lnSpc>
              <a:buSzPct val="100000"/>
              <a:buFont typeface="Wingdings" panose="05000000000000000000" pitchFamily="2" charset="2"/>
              <a:buChar char="Ø"/>
            </a:pPr>
            <a:r>
              <a:rPr lang="en-US" b="1" dirty="0">
                <a:solidFill>
                  <a:srgbClr val="1A1A1A"/>
                </a:solidFill>
                <a:latin typeface="Times New Roman" panose="02020603050405020304" pitchFamily="18" charset="0"/>
                <a:ea typeface="Calibri" pitchFamily="34" charset="-122"/>
                <a:cs typeface="Times New Roman" panose="02020603050405020304" pitchFamily="18" charset="0"/>
              </a:rPr>
              <a:t>Admin &amp; Reports – </a:t>
            </a:r>
            <a:r>
              <a:rPr lang="en-US" dirty="0">
                <a:solidFill>
                  <a:srgbClr val="1A1A1A"/>
                </a:solidFill>
                <a:latin typeface="Times New Roman" panose="02020603050405020304" pitchFamily="18" charset="0"/>
                <a:ea typeface="Calibri" pitchFamily="34" charset="-122"/>
                <a:cs typeface="Times New Roman" panose="02020603050405020304" pitchFamily="18" charset="0"/>
              </a:rPr>
              <a:t>Central dashboard for monitoring activity and generating donation/distribution reports.</a:t>
            </a:r>
            <a:endParaRPr lang="en-US" dirty="0">
              <a:latin typeface="Times New Roman" panose="02020603050405020304" pitchFamily="18" charset="0"/>
              <a:cs typeface="Times New Roman" panose="02020603050405020304" pitchFamily="18" charset="0"/>
            </a:endParaRPr>
          </a:p>
        </p:txBody>
      </p:sp>
      <p:pic>
        <p:nvPicPr>
          <p:cNvPr id="9" name="Google Shape;95;p2" descr="A logo with blue green and orange letters&#10;&#10;AI-generated content may be incorrect.">
            <a:extLst>
              <a:ext uri="{FF2B5EF4-FFF2-40B4-BE49-F238E27FC236}">
                <a16:creationId xmlns:a16="http://schemas.microsoft.com/office/drawing/2014/main" id="{F5A9B66F-5E0F-2B5C-1E55-070B31E89452}"/>
              </a:ext>
            </a:extLst>
          </p:cNvPr>
          <p:cNvPicPr preferRelativeResize="0"/>
          <p:nvPr/>
        </p:nvPicPr>
        <p:blipFill rotWithShape="1">
          <a:blip r:embed="rId3">
            <a:alphaModFix/>
          </a:blip>
          <a:srcRect/>
          <a:stretch/>
        </p:blipFill>
        <p:spPr>
          <a:xfrm>
            <a:off x="385642" y="190142"/>
            <a:ext cx="1158267" cy="1393652"/>
          </a:xfrm>
          <a:prstGeom prst="rect">
            <a:avLst/>
          </a:prstGeom>
          <a:noFill/>
          <a:ln>
            <a:noFill/>
          </a:ln>
        </p:spPr>
      </p:pic>
      <p:pic>
        <p:nvPicPr>
          <p:cNvPr id="11" name="Google Shape;94;p2" descr="A blue gear with a symbol and text&#10;&#10;AI-generated content may be incorrect.">
            <a:extLst>
              <a:ext uri="{FF2B5EF4-FFF2-40B4-BE49-F238E27FC236}">
                <a16:creationId xmlns:a16="http://schemas.microsoft.com/office/drawing/2014/main" id="{5BC2AC29-97F2-7D39-BB3E-23A29D4CF2DE}"/>
              </a:ext>
            </a:extLst>
          </p:cNvPr>
          <p:cNvPicPr preferRelativeResize="0"/>
          <p:nvPr/>
        </p:nvPicPr>
        <p:blipFill rotWithShape="1">
          <a:blip r:embed="rId4">
            <a:alphaModFix/>
          </a:blip>
          <a:srcRect/>
          <a:stretch/>
        </p:blipFill>
        <p:spPr>
          <a:xfrm>
            <a:off x="10486950" y="107175"/>
            <a:ext cx="1414398" cy="131014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933351-B503-AA66-AE81-5540B47CA6FC}"/>
              </a:ext>
            </a:extLst>
          </p:cNvPr>
          <p:cNvSpPr txBox="1"/>
          <p:nvPr/>
        </p:nvSpPr>
        <p:spPr>
          <a:xfrm>
            <a:off x="2342536" y="623293"/>
            <a:ext cx="6081250" cy="523220"/>
          </a:xfrm>
          <a:prstGeom prst="rect">
            <a:avLst/>
          </a:prstGeom>
          <a:noFill/>
        </p:spPr>
        <p:txBody>
          <a:bodyPr wrap="square">
            <a:spAutoFit/>
          </a:bodyPr>
          <a:lstStyle/>
          <a:p>
            <a:pPr marL="0" indent="0" algn="ctr">
              <a:buNone/>
            </a:pPr>
            <a:r>
              <a:rPr lang="en-US" sz="2800" b="1" dirty="0">
                <a:solidFill>
                  <a:srgbClr val="1A1A1A"/>
                </a:solidFill>
                <a:latin typeface="Cambria" pitchFamily="34" charset="0"/>
                <a:ea typeface="Cambria" pitchFamily="34" charset="-122"/>
                <a:cs typeface="Cambria" pitchFamily="34" charset="-120"/>
              </a:rPr>
              <a:t>MODULE 1: USER MANAGEMENT</a:t>
            </a:r>
            <a:endParaRPr lang="en-US" sz="2800" dirty="0"/>
          </a:p>
        </p:txBody>
      </p:sp>
      <p:sp>
        <p:nvSpPr>
          <p:cNvPr id="5" name="TextBox 4">
            <a:extLst>
              <a:ext uri="{FF2B5EF4-FFF2-40B4-BE49-F238E27FC236}">
                <a16:creationId xmlns:a16="http://schemas.microsoft.com/office/drawing/2014/main" id="{C54BB1CA-8D8D-95CE-4ADF-2338F36E349F}"/>
              </a:ext>
            </a:extLst>
          </p:cNvPr>
          <p:cNvSpPr txBox="1"/>
          <p:nvPr/>
        </p:nvSpPr>
        <p:spPr>
          <a:xfrm>
            <a:off x="658761" y="2146574"/>
            <a:ext cx="10825316" cy="4037644"/>
          </a:xfrm>
          <a:prstGeom prst="rect">
            <a:avLst/>
          </a:prstGeom>
          <a:noFill/>
        </p:spPr>
        <p:txBody>
          <a:bodyPr wrap="square">
            <a:spAutoFit/>
          </a:bodyPr>
          <a:lstStyle/>
          <a:p>
            <a:pPr marL="342900" indent="-34290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Allows donors, receivers, and delivery volunteers to create accounts and securely log in to the platform</a:t>
            </a:r>
            <a:endParaRPr lang="en-US" sz="2000" dirty="0">
              <a:latin typeface="Times New Roman" panose="02020603050405020304" pitchFamily="18" charset="0"/>
              <a:cs typeface="Times New Roman" panose="02020603050405020304" pitchFamily="18" charset="0"/>
            </a:endParaRPr>
          </a:p>
          <a:p>
            <a:pPr marL="342900" indent="-34290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Assigns role-based access so each user sees only the features relevant to them, such as donation listing for donors or approvals for admins</a:t>
            </a:r>
            <a:endParaRPr lang="en-US" sz="2000" dirty="0">
              <a:latin typeface="Times New Roman" panose="02020603050405020304" pitchFamily="18" charset="0"/>
              <a:cs typeface="Times New Roman" panose="02020603050405020304" pitchFamily="18" charset="0"/>
            </a:endParaRPr>
          </a:p>
          <a:p>
            <a:pPr marL="342900" indent="-34290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Stores and manages profile information, including name, contact number, address, and preferred pickup or delivery locations</a:t>
            </a:r>
            <a:endParaRPr lang="en-US" sz="2000" dirty="0">
              <a:latin typeface="Times New Roman" panose="02020603050405020304" pitchFamily="18" charset="0"/>
              <a:cs typeface="Times New Roman" panose="02020603050405020304" pitchFamily="18" charset="0"/>
            </a:endParaRPr>
          </a:p>
          <a:p>
            <a:pPr marL="342900" indent="-34290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Verifies user identity during registration to reduce fake accounts and build trust between donors and receivers</a:t>
            </a:r>
            <a:endParaRPr lang="en-US" sz="2000" dirty="0">
              <a:latin typeface="Times New Roman" panose="02020603050405020304" pitchFamily="18" charset="0"/>
              <a:cs typeface="Times New Roman" panose="02020603050405020304" pitchFamily="18" charset="0"/>
            </a:endParaRPr>
          </a:p>
          <a:p>
            <a:pPr marL="342900" indent="-34290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Lets users update their profile and track their donation or request history from a personal dashboard</a:t>
            </a:r>
            <a:endParaRPr lang="en-US" sz="2000" dirty="0">
              <a:latin typeface="Times New Roman" panose="02020603050405020304" pitchFamily="18" charset="0"/>
              <a:cs typeface="Times New Roman" panose="02020603050405020304" pitchFamily="18" charset="0"/>
            </a:endParaRPr>
          </a:p>
        </p:txBody>
      </p:sp>
      <p:pic>
        <p:nvPicPr>
          <p:cNvPr id="7" name="Google Shape;95;p2" descr="A logo with blue green and orange letters&#10;&#10;AI-generated content may be incorrect.">
            <a:extLst>
              <a:ext uri="{FF2B5EF4-FFF2-40B4-BE49-F238E27FC236}">
                <a16:creationId xmlns:a16="http://schemas.microsoft.com/office/drawing/2014/main" id="{69EEBEEC-169A-A9E5-8EA7-E3B45C85726B}"/>
              </a:ext>
            </a:extLst>
          </p:cNvPr>
          <p:cNvPicPr preferRelativeResize="0"/>
          <p:nvPr/>
        </p:nvPicPr>
        <p:blipFill rotWithShape="1">
          <a:blip r:embed="rId2">
            <a:alphaModFix/>
          </a:blip>
          <a:srcRect/>
          <a:stretch/>
        </p:blipFill>
        <p:spPr>
          <a:xfrm>
            <a:off x="385642" y="190142"/>
            <a:ext cx="1158267" cy="1393652"/>
          </a:xfrm>
          <a:prstGeom prst="rect">
            <a:avLst/>
          </a:prstGeom>
          <a:noFill/>
          <a:ln>
            <a:noFill/>
          </a:ln>
        </p:spPr>
      </p:pic>
      <p:pic>
        <p:nvPicPr>
          <p:cNvPr id="9" name="Google Shape;94;p2" descr="A blue gear with a symbol and text&#10;&#10;AI-generated content may be incorrect.">
            <a:extLst>
              <a:ext uri="{FF2B5EF4-FFF2-40B4-BE49-F238E27FC236}">
                <a16:creationId xmlns:a16="http://schemas.microsoft.com/office/drawing/2014/main" id="{F788B328-DFD1-CAAD-2337-795BDDED2161}"/>
              </a:ext>
            </a:extLst>
          </p:cNvPr>
          <p:cNvPicPr preferRelativeResize="0"/>
          <p:nvPr/>
        </p:nvPicPr>
        <p:blipFill rotWithShape="1">
          <a:blip r:embed="rId3">
            <a:alphaModFix/>
          </a:blip>
          <a:srcRect/>
          <a:stretch/>
        </p:blipFill>
        <p:spPr>
          <a:xfrm>
            <a:off x="10550795" y="107175"/>
            <a:ext cx="1414398" cy="1310145"/>
          </a:xfrm>
          <a:prstGeom prst="rect">
            <a:avLst/>
          </a:prstGeom>
          <a:noFill/>
          <a:ln>
            <a:noFill/>
          </a:ln>
        </p:spPr>
      </p:pic>
    </p:spTree>
    <p:extLst>
      <p:ext uri="{BB962C8B-B14F-4D97-AF65-F5344CB8AC3E}">
        <p14:creationId xmlns:p14="http://schemas.microsoft.com/office/powerpoint/2010/main" val="4191886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4D2851-3D3C-45CB-AEF4-98253A1333FB}"/>
              </a:ext>
            </a:extLst>
          </p:cNvPr>
          <p:cNvSpPr txBox="1"/>
          <p:nvPr/>
        </p:nvSpPr>
        <p:spPr>
          <a:xfrm>
            <a:off x="1585451" y="624160"/>
            <a:ext cx="8581103" cy="523220"/>
          </a:xfrm>
          <a:prstGeom prst="rect">
            <a:avLst/>
          </a:prstGeom>
          <a:noFill/>
        </p:spPr>
        <p:txBody>
          <a:bodyPr wrap="square">
            <a:spAutoFit/>
          </a:bodyPr>
          <a:lstStyle/>
          <a:p>
            <a:pPr marL="0" indent="0" algn="ctr">
              <a:buNone/>
            </a:pPr>
            <a:r>
              <a:rPr lang="en-US" sz="2800" b="1" dirty="0">
                <a:solidFill>
                  <a:srgbClr val="1A1A1A"/>
                </a:solidFill>
                <a:latin typeface="Cambria" pitchFamily="34" charset="0"/>
                <a:ea typeface="Cambria" pitchFamily="34" charset="-122"/>
                <a:cs typeface="Cambria" pitchFamily="34" charset="-120"/>
              </a:rPr>
              <a:t>MODULE 2: FOOD DONATION MANAGEMENT</a:t>
            </a:r>
            <a:endParaRPr lang="en-US" sz="2800" dirty="0"/>
          </a:p>
        </p:txBody>
      </p:sp>
      <p:sp>
        <p:nvSpPr>
          <p:cNvPr id="5" name="TextBox 4">
            <a:extLst>
              <a:ext uri="{FF2B5EF4-FFF2-40B4-BE49-F238E27FC236}">
                <a16:creationId xmlns:a16="http://schemas.microsoft.com/office/drawing/2014/main" id="{BECFD147-6590-C950-2EB4-DDDCBD2366D0}"/>
              </a:ext>
            </a:extLst>
          </p:cNvPr>
          <p:cNvSpPr txBox="1"/>
          <p:nvPr/>
        </p:nvSpPr>
        <p:spPr>
          <a:xfrm>
            <a:off x="776748" y="2131102"/>
            <a:ext cx="10422194" cy="4070153"/>
          </a:xfrm>
          <a:prstGeom prst="rect">
            <a:avLst/>
          </a:prstGeom>
          <a:noFill/>
        </p:spPr>
        <p:txBody>
          <a:bodyPr wrap="square">
            <a:spAutoFit/>
          </a:bodyPr>
          <a:lstStyle/>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Enables donors to create a donation listing by specifying food type, quantity, and condition (packaged, cooked, perishable, etc.)</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Lets donors set an available pickup location and a suitable time window for collection</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Allows donors to optionally attach photos of the food item so receivers know what is being offered</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Automatically updates each listing's status as Available, Requested, or Completed as it moves through the workflow</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Sends reminders to donors when a listed item is nearing its pickup deadline, helping reduce spoilage</a:t>
            </a:r>
            <a:endParaRPr lang="en-US" sz="2000" dirty="0">
              <a:latin typeface="Times New Roman" panose="02020603050405020304" pitchFamily="18" charset="0"/>
              <a:cs typeface="Times New Roman" panose="02020603050405020304" pitchFamily="18" charset="0"/>
            </a:endParaRPr>
          </a:p>
        </p:txBody>
      </p:sp>
      <p:pic>
        <p:nvPicPr>
          <p:cNvPr id="7" name="Google Shape;95;p2" descr="A logo with blue green and orange letters&#10;&#10;AI-generated content may be incorrect.">
            <a:extLst>
              <a:ext uri="{FF2B5EF4-FFF2-40B4-BE49-F238E27FC236}">
                <a16:creationId xmlns:a16="http://schemas.microsoft.com/office/drawing/2014/main" id="{415A977B-5035-47CA-72AA-6925B7C45960}"/>
              </a:ext>
            </a:extLst>
          </p:cNvPr>
          <p:cNvPicPr preferRelativeResize="0"/>
          <p:nvPr/>
        </p:nvPicPr>
        <p:blipFill rotWithShape="1">
          <a:blip r:embed="rId2">
            <a:alphaModFix/>
          </a:blip>
          <a:srcRect/>
          <a:stretch/>
        </p:blipFill>
        <p:spPr>
          <a:xfrm>
            <a:off x="385642" y="190142"/>
            <a:ext cx="1158267" cy="1393652"/>
          </a:xfrm>
          <a:prstGeom prst="rect">
            <a:avLst/>
          </a:prstGeom>
          <a:noFill/>
          <a:ln>
            <a:noFill/>
          </a:ln>
        </p:spPr>
      </p:pic>
      <p:pic>
        <p:nvPicPr>
          <p:cNvPr id="9" name="Google Shape;94;p2" descr="A blue gear with a symbol and text&#10;&#10;AI-generated content may be incorrect.">
            <a:extLst>
              <a:ext uri="{FF2B5EF4-FFF2-40B4-BE49-F238E27FC236}">
                <a16:creationId xmlns:a16="http://schemas.microsoft.com/office/drawing/2014/main" id="{F970E2C0-C62E-75E1-1C80-C42F6BD495D2}"/>
              </a:ext>
            </a:extLst>
          </p:cNvPr>
          <p:cNvPicPr preferRelativeResize="0"/>
          <p:nvPr/>
        </p:nvPicPr>
        <p:blipFill rotWithShape="1">
          <a:blip r:embed="rId3">
            <a:alphaModFix/>
          </a:blip>
          <a:srcRect/>
          <a:stretch/>
        </p:blipFill>
        <p:spPr>
          <a:xfrm>
            <a:off x="10481969" y="273649"/>
            <a:ext cx="1414398" cy="1310145"/>
          </a:xfrm>
          <a:prstGeom prst="rect">
            <a:avLst/>
          </a:prstGeom>
          <a:noFill/>
          <a:ln>
            <a:noFill/>
          </a:ln>
        </p:spPr>
      </p:pic>
    </p:spTree>
    <p:extLst>
      <p:ext uri="{BB962C8B-B14F-4D97-AF65-F5344CB8AC3E}">
        <p14:creationId xmlns:p14="http://schemas.microsoft.com/office/powerpoint/2010/main" val="1198914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4ABCD4-DC95-DBA2-CD3A-CE48A3BD32C8}"/>
              </a:ext>
            </a:extLst>
          </p:cNvPr>
          <p:cNvSpPr txBox="1"/>
          <p:nvPr/>
        </p:nvSpPr>
        <p:spPr>
          <a:xfrm>
            <a:off x="1241322" y="732315"/>
            <a:ext cx="8453283" cy="523220"/>
          </a:xfrm>
          <a:prstGeom prst="rect">
            <a:avLst/>
          </a:prstGeom>
          <a:noFill/>
        </p:spPr>
        <p:txBody>
          <a:bodyPr wrap="square">
            <a:spAutoFit/>
          </a:bodyPr>
          <a:lstStyle/>
          <a:p>
            <a:pPr marL="0" indent="0" algn="ctr">
              <a:buNone/>
            </a:pPr>
            <a:r>
              <a:rPr lang="en-US" sz="2800" b="1" dirty="0">
                <a:solidFill>
                  <a:srgbClr val="1A1A1A"/>
                </a:solidFill>
                <a:latin typeface="Cambria" pitchFamily="34" charset="0"/>
                <a:ea typeface="Cambria" pitchFamily="34" charset="-122"/>
                <a:cs typeface="Cambria" pitchFamily="34" charset="-120"/>
              </a:rPr>
              <a:t>MODULE 3: FOOD REQUEST &amp; APPROVAL</a:t>
            </a:r>
            <a:endParaRPr lang="en-US" sz="2800" dirty="0"/>
          </a:p>
        </p:txBody>
      </p:sp>
      <p:sp>
        <p:nvSpPr>
          <p:cNvPr id="5" name="TextBox 4">
            <a:extLst>
              <a:ext uri="{FF2B5EF4-FFF2-40B4-BE49-F238E27FC236}">
                <a16:creationId xmlns:a16="http://schemas.microsoft.com/office/drawing/2014/main" id="{B36FC4F4-2610-B7C5-DC43-6F01968A9D25}"/>
              </a:ext>
            </a:extLst>
          </p:cNvPr>
          <p:cNvSpPr txBox="1"/>
          <p:nvPr/>
        </p:nvSpPr>
        <p:spPr>
          <a:xfrm>
            <a:off x="668593" y="2269602"/>
            <a:ext cx="10520517" cy="4226798"/>
          </a:xfrm>
          <a:prstGeom prst="rect">
            <a:avLst/>
          </a:prstGeom>
          <a:noFill/>
        </p:spPr>
        <p:txBody>
          <a:bodyPr wrap="square">
            <a:spAutoFit/>
          </a:bodyPr>
          <a:lstStyle/>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Allows registered receivers to browse and filter currently available donation listings by food type or location</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Enables a receiver to submit a request to claim a specific donation</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Routes each request to the donor or admin for review, who can approve or reject it based on availability</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Prevents duplicate claims by locking a listing once a request against it has been approved</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Automatically forwards approved requests to the delivery management module for volunteer assignment</a:t>
            </a:r>
            <a:endParaRPr lang="en-US" sz="2000" dirty="0">
              <a:latin typeface="Times New Roman" panose="02020603050405020304" pitchFamily="18" charset="0"/>
              <a:cs typeface="Times New Roman" panose="02020603050405020304" pitchFamily="18" charset="0"/>
            </a:endParaRPr>
          </a:p>
          <a:p>
            <a:pPr marL="285750" indent="-285750" algn="l">
              <a:spcAft>
                <a:spcPts val="2200"/>
              </a:spcAft>
              <a:buSzPct val="1000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pic>
        <p:nvPicPr>
          <p:cNvPr id="7" name="Google Shape;95;p2" descr="A logo with blue green and orange letters&#10;&#10;AI-generated content may be incorrect.">
            <a:extLst>
              <a:ext uri="{FF2B5EF4-FFF2-40B4-BE49-F238E27FC236}">
                <a16:creationId xmlns:a16="http://schemas.microsoft.com/office/drawing/2014/main" id="{11781F25-9DD5-E450-5046-D5A97F0DF23D}"/>
              </a:ext>
            </a:extLst>
          </p:cNvPr>
          <p:cNvPicPr preferRelativeResize="0"/>
          <p:nvPr/>
        </p:nvPicPr>
        <p:blipFill rotWithShape="1">
          <a:blip r:embed="rId2">
            <a:alphaModFix/>
          </a:blip>
          <a:srcRect/>
          <a:stretch/>
        </p:blipFill>
        <p:spPr>
          <a:xfrm>
            <a:off x="385642" y="190142"/>
            <a:ext cx="1158267" cy="1393652"/>
          </a:xfrm>
          <a:prstGeom prst="rect">
            <a:avLst/>
          </a:prstGeom>
          <a:noFill/>
          <a:ln>
            <a:noFill/>
          </a:ln>
        </p:spPr>
      </p:pic>
      <p:pic>
        <p:nvPicPr>
          <p:cNvPr id="9" name="Google Shape;94;p2" descr="A blue gear with a symbol and text&#10;&#10;AI-generated content may be incorrect.">
            <a:extLst>
              <a:ext uri="{FF2B5EF4-FFF2-40B4-BE49-F238E27FC236}">
                <a16:creationId xmlns:a16="http://schemas.microsoft.com/office/drawing/2014/main" id="{30D107E4-E821-4D6C-CD52-CD192C7BE8F9}"/>
              </a:ext>
            </a:extLst>
          </p:cNvPr>
          <p:cNvPicPr preferRelativeResize="0"/>
          <p:nvPr/>
        </p:nvPicPr>
        <p:blipFill rotWithShape="1">
          <a:blip r:embed="rId3">
            <a:alphaModFix/>
          </a:blip>
          <a:srcRect/>
          <a:stretch/>
        </p:blipFill>
        <p:spPr>
          <a:xfrm>
            <a:off x="10361798" y="231895"/>
            <a:ext cx="1414398" cy="1310145"/>
          </a:xfrm>
          <a:prstGeom prst="rect">
            <a:avLst/>
          </a:prstGeom>
          <a:noFill/>
          <a:ln>
            <a:noFill/>
          </a:ln>
        </p:spPr>
      </p:pic>
    </p:spTree>
    <p:extLst>
      <p:ext uri="{BB962C8B-B14F-4D97-AF65-F5344CB8AC3E}">
        <p14:creationId xmlns:p14="http://schemas.microsoft.com/office/powerpoint/2010/main" val="3825481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EFA176-1911-A6F1-F539-E733EF0CFF51}"/>
              </a:ext>
            </a:extLst>
          </p:cNvPr>
          <p:cNvSpPr txBox="1"/>
          <p:nvPr/>
        </p:nvSpPr>
        <p:spPr>
          <a:xfrm>
            <a:off x="2244212" y="791308"/>
            <a:ext cx="8040329" cy="523220"/>
          </a:xfrm>
          <a:prstGeom prst="rect">
            <a:avLst/>
          </a:prstGeom>
          <a:noFill/>
        </p:spPr>
        <p:txBody>
          <a:bodyPr wrap="square">
            <a:spAutoFit/>
          </a:bodyPr>
          <a:lstStyle/>
          <a:p>
            <a:pPr marL="0" indent="0" algn="ctr">
              <a:buNone/>
            </a:pPr>
            <a:r>
              <a:rPr lang="en-US" sz="2800" b="1" dirty="0">
                <a:solidFill>
                  <a:srgbClr val="1A1A1A"/>
                </a:solidFill>
                <a:latin typeface="Cambria" pitchFamily="34" charset="0"/>
                <a:ea typeface="Cambria" pitchFamily="34" charset="-122"/>
                <a:cs typeface="Cambria" pitchFamily="34" charset="-120"/>
              </a:rPr>
              <a:t>MODULE 4: DELIVERY MANAGEMENT</a:t>
            </a:r>
            <a:endParaRPr lang="en-US" sz="2800" dirty="0"/>
          </a:p>
        </p:txBody>
      </p:sp>
      <p:sp>
        <p:nvSpPr>
          <p:cNvPr id="5" name="TextBox 4">
            <a:extLst>
              <a:ext uri="{FF2B5EF4-FFF2-40B4-BE49-F238E27FC236}">
                <a16:creationId xmlns:a16="http://schemas.microsoft.com/office/drawing/2014/main" id="{50FCEAD6-33FA-00BE-EEB4-51BBCF540976}"/>
              </a:ext>
            </a:extLst>
          </p:cNvPr>
          <p:cNvSpPr txBox="1"/>
          <p:nvPr/>
        </p:nvSpPr>
        <p:spPr>
          <a:xfrm>
            <a:off x="1002889" y="2408101"/>
            <a:ext cx="10009239" cy="3716210"/>
          </a:xfrm>
          <a:prstGeom prst="rect">
            <a:avLst/>
          </a:prstGeom>
          <a:noFill/>
        </p:spPr>
        <p:txBody>
          <a:bodyPr wrap="square">
            <a:spAutoFit/>
          </a:bodyPr>
          <a:lstStyle/>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Assigns an available delivery volunteer to each approved food donation request</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Provides volunteers with pickup and drop-off details, including donor and receiver addresses and contact information</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Tracks the real-time status of every delivery, from assignment through pickup to final drop-off</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Allows receivers to confirm successful delivery, which closes out the request in the system</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Maintains a complete delivery history that can be reviewed later for performance tracking and reporting</a:t>
            </a:r>
            <a:endParaRPr lang="en-US" sz="2000" dirty="0">
              <a:latin typeface="Times New Roman" panose="02020603050405020304" pitchFamily="18" charset="0"/>
              <a:cs typeface="Times New Roman" panose="02020603050405020304" pitchFamily="18" charset="0"/>
            </a:endParaRPr>
          </a:p>
        </p:txBody>
      </p:sp>
      <p:pic>
        <p:nvPicPr>
          <p:cNvPr id="7" name="Google Shape;95;p2" descr="A logo with blue green and orange letters&#10;&#10;AI-generated content may be incorrect.">
            <a:extLst>
              <a:ext uri="{FF2B5EF4-FFF2-40B4-BE49-F238E27FC236}">
                <a16:creationId xmlns:a16="http://schemas.microsoft.com/office/drawing/2014/main" id="{258D424C-ED09-DC62-CBA1-F5FD0B3C32E8}"/>
              </a:ext>
            </a:extLst>
          </p:cNvPr>
          <p:cNvPicPr preferRelativeResize="0"/>
          <p:nvPr/>
        </p:nvPicPr>
        <p:blipFill rotWithShape="1">
          <a:blip r:embed="rId2">
            <a:alphaModFix/>
          </a:blip>
          <a:srcRect/>
          <a:stretch/>
        </p:blipFill>
        <p:spPr>
          <a:xfrm>
            <a:off x="385642" y="190142"/>
            <a:ext cx="1158267" cy="1393652"/>
          </a:xfrm>
          <a:prstGeom prst="rect">
            <a:avLst/>
          </a:prstGeom>
          <a:noFill/>
          <a:ln>
            <a:noFill/>
          </a:ln>
        </p:spPr>
      </p:pic>
      <p:pic>
        <p:nvPicPr>
          <p:cNvPr id="9" name="Google Shape;94;p2" descr="A blue gear with a symbol and text&#10;&#10;AI-generated content may be incorrect.">
            <a:extLst>
              <a:ext uri="{FF2B5EF4-FFF2-40B4-BE49-F238E27FC236}">
                <a16:creationId xmlns:a16="http://schemas.microsoft.com/office/drawing/2014/main" id="{72E57DDA-2D7E-121E-F863-C44C88B71134}"/>
              </a:ext>
            </a:extLst>
          </p:cNvPr>
          <p:cNvPicPr preferRelativeResize="0"/>
          <p:nvPr/>
        </p:nvPicPr>
        <p:blipFill rotWithShape="1">
          <a:blip r:embed="rId3">
            <a:alphaModFix/>
          </a:blip>
          <a:srcRect/>
          <a:stretch/>
        </p:blipFill>
        <p:spPr>
          <a:xfrm>
            <a:off x="10639285" y="273649"/>
            <a:ext cx="1414398" cy="1310145"/>
          </a:xfrm>
          <a:prstGeom prst="rect">
            <a:avLst/>
          </a:prstGeom>
          <a:noFill/>
          <a:ln>
            <a:noFill/>
          </a:ln>
        </p:spPr>
      </p:pic>
    </p:spTree>
    <p:extLst>
      <p:ext uri="{BB962C8B-B14F-4D97-AF65-F5344CB8AC3E}">
        <p14:creationId xmlns:p14="http://schemas.microsoft.com/office/powerpoint/2010/main" val="2324466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D8013E-0717-4BD6-6DA0-200A733BB154}"/>
              </a:ext>
            </a:extLst>
          </p:cNvPr>
          <p:cNvSpPr txBox="1"/>
          <p:nvPr/>
        </p:nvSpPr>
        <p:spPr>
          <a:xfrm>
            <a:off x="2549013" y="623293"/>
            <a:ext cx="6081250" cy="523220"/>
          </a:xfrm>
          <a:prstGeom prst="rect">
            <a:avLst/>
          </a:prstGeom>
          <a:noFill/>
        </p:spPr>
        <p:txBody>
          <a:bodyPr wrap="square">
            <a:spAutoFit/>
          </a:bodyPr>
          <a:lstStyle/>
          <a:p>
            <a:pPr marL="0" indent="0" algn="ctr">
              <a:buNone/>
            </a:pPr>
            <a:r>
              <a:rPr lang="en-US" sz="2800" b="1" dirty="0">
                <a:solidFill>
                  <a:srgbClr val="1A1A1A"/>
                </a:solidFill>
                <a:latin typeface="Cambria" pitchFamily="34" charset="0"/>
                <a:ea typeface="Cambria" pitchFamily="34" charset="-122"/>
                <a:cs typeface="Cambria" pitchFamily="34" charset="-120"/>
              </a:rPr>
              <a:t>MODULE 5: ADMIN &amp; REPORTS</a:t>
            </a:r>
            <a:endParaRPr lang="en-US" sz="2800" dirty="0"/>
          </a:p>
        </p:txBody>
      </p:sp>
      <p:sp>
        <p:nvSpPr>
          <p:cNvPr id="5" name="TextBox 4">
            <a:extLst>
              <a:ext uri="{FF2B5EF4-FFF2-40B4-BE49-F238E27FC236}">
                <a16:creationId xmlns:a16="http://schemas.microsoft.com/office/drawing/2014/main" id="{9527367B-DCB2-B11D-E5DC-826563FD7A87}"/>
              </a:ext>
            </a:extLst>
          </p:cNvPr>
          <p:cNvSpPr txBox="1"/>
          <p:nvPr/>
        </p:nvSpPr>
        <p:spPr>
          <a:xfrm>
            <a:off x="1258529" y="1992603"/>
            <a:ext cx="9733936" cy="4431726"/>
          </a:xfrm>
          <a:prstGeom prst="rect">
            <a:avLst/>
          </a:prstGeom>
          <a:noFill/>
        </p:spPr>
        <p:txBody>
          <a:bodyPr wrap="square">
            <a:spAutoFit/>
          </a:bodyPr>
          <a:lstStyle/>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Provides administrators with a centralized dashboard to monitor all donations, requests, and deliveries in real time</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Generates reports on donation volume, request approval rates, and delivery performance over selected time periods</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Allows admins to manage user accounts, resolve disputes, and remove inactive or fraudulent listings</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Highlights trends such as high-demand areas or frequently donated food types to support better planning</a:t>
            </a:r>
            <a:endParaRPr lang="en-US" sz="2000" dirty="0">
              <a:latin typeface="Times New Roman" panose="02020603050405020304" pitchFamily="18" charset="0"/>
              <a:cs typeface="Times New Roman" panose="02020603050405020304" pitchFamily="18" charset="0"/>
            </a:endParaRPr>
          </a:p>
          <a:p>
            <a:pPr marL="285750" indent="-285750">
              <a:lnSpc>
                <a:spcPct val="115000"/>
              </a:lnSpc>
              <a:spcAft>
                <a:spcPts val="1600"/>
              </a:spcAft>
              <a:buSzPct val="100000"/>
              <a:buFont typeface="Wingdings" panose="05000000000000000000" pitchFamily="2" charset="2"/>
              <a:buChar char="Ø"/>
            </a:pPr>
            <a:r>
              <a:rPr lang="en-US" sz="2000" dirty="0">
                <a:solidFill>
                  <a:srgbClr val="1A1A1A"/>
                </a:solidFill>
                <a:latin typeface="Times New Roman" panose="02020603050405020304" pitchFamily="18" charset="0"/>
                <a:ea typeface="Calibri" pitchFamily="34" charset="-122"/>
                <a:cs typeface="Times New Roman" panose="02020603050405020304" pitchFamily="18" charset="0"/>
              </a:rPr>
              <a:t>Supports data-driven decisions that help improve the overall efficiency and reach of the platform</a:t>
            </a:r>
            <a:endParaRPr lang="en-US" sz="2000" dirty="0">
              <a:latin typeface="Times New Roman" panose="02020603050405020304" pitchFamily="18" charset="0"/>
              <a:cs typeface="Times New Roman" panose="02020603050405020304" pitchFamily="18" charset="0"/>
            </a:endParaRPr>
          </a:p>
        </p:txBody>
      </p:sp>
      <p:pic>
        <p:nvPicPr>
          <p:cNvPr id="7" name="Google Shape;95;p2" descr="A logo with blue green and orange letters&#10;&#10;AI-generated content may be incorrect.">
            <a:extLst>
              <a:ext uri="{FF2B5EF4-FFF2-40B4-BE49-F238E27FC236}">
                <a16:creationId xmlns:a16="http://schemas.microsoft.com/office/drawing/2014/main" id="{8408F155-17A4-1BA8-EDB7-501B4DFE137E}"/>
              </a:ext>
            </a:extLst>
          </p:cNvPr>
          <p:cNvPicPr preferRelativeResize="0"/>
          <p:nvPr/>
        </p:nvPicPr>
        <p:blipFill rotWithShape="1">
          <a:blip r:embed="rId2">
            <a:alphaModFix/>
          </a:blip>
          <a:srcRect/>
          <a:stretch/>
        </p:blipFill>
        <p:spPr>
          <a:xfrm>
            <a:off x="385642" y="190142"/>
            <a:ext cx="1158267" cy="1393652"/>
          </a:xfrm>
          <a:prstGeom prst="rect">
            <a:avLst/>
          </a:prstGeom>
          <a:noFill/>
          <a:ln>
            <a:noFill/>
          </a:ln>
        </p:spPr>
      </p:pic>
      <p:pic>
        <p:nvPicPr>
          <p:cNvPr id="9" name="Google Shape;94;p2" descr="A blue gear with a symbol and text&#10;&#10;AI-generated content may be incorrect.">
            <a:extLst>
              <a:ext uri="{FF2B5EF4-FFF2-40B4-BE49-F238E27FC236}">
                <a16:creationId xmlns:a16="http://schemas.microsoft.com/office/drawing/2014/main" id="{3941A5A1-7D64-7B6E-CFB0-D9EC296F041C}"/>
              </a:ext>
            </a:extLst>
          </p:cNvPr>
          <p:cNvPicPr preferRelativeResize="0"/>
          <p:nvPr/>
        </p:nvPicPr>
        <p:blipFill rotWithShape="1">
          <a:blip r:embed="rId3">
            <a:alphaModFix/>
          </a:blip>
          <a:srcRect/>
          <a:stretch/>
        </p:blipFill>
        <p:spPr>
          <a:xfrm>
            <a:off x="10472136" y="273649"/>
            <a:ext cx="1414398" cy="1310145"/>
          </a:xfrm>
          <a:prstGeom prst="rect">
            <a:avLst/>
          </a:prstGeom>
          <a:noFill/>
          <a:ln>
            <a:noFill/>
          </a:ln>
        </p:spPr>
      </p:pic>
    </p:spTree>
    <p:extLst>
      <p:ext uri="{BB962C8B-B14F-4D97-AF65-F5344CB8AC3E}">
        <p14:creationId xmlns:p14="http://schemas.microsoft.com/office/powerpoint/2010/main" val="3996740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1FC1903-5484-4714-5F69-DB624E83E2F6}"/>
              </a:ext>
            </a:extLst>
          </p:cNvPr>
          <p:cNvSpPr txBox="1"/>
          <p:nvPr/>
        </p:nvSpPr>
        <p:spPr>
          <a:xfrm>
            <a:off x="690879" y="2196742"/>
            <a:ext cx="10468733" cy="3782061"/>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FoodShare Connect addresses the persistent gap between surplus food and the people who need it by replacing informal, manual coordination with a structured digital platform. By bringing donors, receivers, delivery volunteers, and administrators onto a single system, the platform streamlines the entire donation lifecycle — from listing and approval to delivery and reporting. The role-based workflow ensures accountability at every stage, reducing delays, duplicate claims, and food spoilage that plague existing manual processes. Centralized reporting gives administrators real-time visibility into donation trends and distribution impact, enabling better planning and resource allocation. Overall, the system demonstrates how a simple, well-structured web platform can meaningfully reduce food wastage while improving access to food for those in need. With further development, FoodShare Connect can be extended into a scalable, community-wide solution for food security.</a:t>
            </a:r>
          </a:p>
        </p:txBody>
      </p:sp>
      <p:sp>
        <p:nvSpPr>
          <p:cNvPr id="8" name="TextBox 7">
            <a:extLst>
              <a:ext uri="{FF2B5EF4-FFF2-40B4-BE49-F238E27FC236}">
                <a16:creationId xmlns:a16="http://schemas.microsoft.com/office/drawing/2014/main" id="{FD633E95-1E7A-B21D-8B14-02366E05152F}"/>
              </a:ext>
            </a:extLst>
          </p:cNvPr>
          <p:cNvSpPr txBox="1"/>
          <p:nvPr/>
        </p:nvSpPr>
        <p:spPr>
          <a:xfrm>
            <a:off x="3413760" y="929709"/>
            <a:ext cx="5628640"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CONCLUSION</a:t>
            </a:r>
            <a:endParaRPr lang="en-IN" sz="2800" b="1" dirty="0">
              <a:latin typeface="Times New Roman" panose="02020603050405020304" pitchFamily="18" charset="0"/>
              <a:cs typeface="Times New Roman" panose="02020603050405020304" pitchFamily="18" charset="0"/>
            </a:endParaRPr>
          </a:p>
        </p:txBody>
      </p:sp>
      <p:pic>
        <p:nvPicPr>
          <p:cNvPr id="10" name="Google Shape;95;p2" descr="A logo with blue green and orange letters&#10;&#10;AI-generated content may be incorrect.">
            <a:extLst>
              <a:ext uri="{FF2B5EF4-FFF2-40B4-BE49-F238E27FC236}">
                <a16:creationId xmlns:a16="http://schemas.microsoft.com/office/drawing/2014/main" id="{0458804F-F4A9-987D-29B8-D3EC62C9CEE0}"/>
              </a:ext>
            </a:extLst>
          </p:cNvPr>
          <p:cNvPicPr preferRelativeResize="0"/>
          <p:nvPr/>
        </p:nvPicPr>
        <p:blipFill rotWithShape="1">
          <a:blip r:embed="rId2">
            <a:alphaModFix/>
          </a:blip>
          <a:srcRect/>
          <a:stretch/>
        </p:blipFill>
        <p:spPr>
          <a:xfrm>
            <a:off x="527882" y="494493"/>
            <a:ext cx="1158267" cy="1393652"/>
          </a:xfrm>
          <a:prstGeom prst="rect">
            <a:avLst/>
          </a:prstGeom>
          <a:noFill/>
          <a:ln>
            <a:noFill/>
          </a:ln>
        </p:spPr>
      </p:pic>
      <p:pic>
        <p:nvPicPr>
          <p:cNvPr id="12" name="Google Shape;94;p2" descr="A blue gear with a symbol and text&#10;&#10;AI-generated content may be incorrect.">
            <a:extLst>
              <a:ext uri="{FF2B5EF4-FFF2-40B4-BE49-F238E27FC236}">
                <a16:creationId xmlns:a16="http://schemas.microsoft.com/office/drawing/2014/main" id="{4E4AB971-BF03-AF46-E8B4-FDA48FAB9208}"/>
              </a:ext>
            </a:extLst>
          </p:cNvPr>
          <p:cNvPicPr preferRelativeResize="0"/>
          <p:nvPr/>
        </p:nvPicPr>
        <p:blipFill rotWithShape="1">
          <a:blip r:embed="rId3">
            <a:alphaModFix/>
          </a:blip>
          <a:srcRect/>
          <a:stretch/>
        </p:blipFill>
        <p:spPr>
          <a:xfrm>
            <a:off x="10299416" y="319438"/>
            <a:ext cx="1414398" cy="1310145"/>
          </a:xfrm>
          <a:prstGeom prst="rect">
            <a:avLst/>
          </a:prstGeom>
          <a:noFill/>
          <a:ln>
            <a:noFill/>
          </a:ln>
        </p:spPr>
      </p:pic>
    </p:spTree>
    <p:extLst>
      <p:ext uri="{BB962C8B-B14F-4D97-AF65-F5344CB8AC3E}">
        <p14:creationId xmlns:p14="http://schemas.microsoft.com/office/powerpoint/2010/main" val="9632657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1511</Words>
  <Application>Microsoft Office PowerPoint</Application>
  <PresentationFormat>Custom</PresentationFormat>
  <Paragraphs>151</Paragraphs>
  <Slides>16</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Yogendra B</cp:lastModifiedBy>
  <cp:revision>6</cp:revision>
  <dcterms:created xsi:type="dcterms:W3CDTF">2026-08-03T02:54:19Z</dcterms:created>
  <dcterms:modified xsi:type="dcterms:W3CDTF">2026-08-03T04:51:22Z</dcterms:modified>
</cp:coreProperties>
</file>